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本项目保留一个材料、一种双位点取代组合与一条载流子散射主线。AI指物理描述符和不确定性约束的主动学习，服务于昂贵计算的选点与信息整合。所有结构图为概念示意，不代表已完成的晶体结构解析。</a:t>
            </a:r>
          </a:p>
          <a:p/>
          <a:p>
            <a:r>
              <a:t>状态：项目概览。配图：原创可编辑概念示意；不代表已计算数据。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科学目标是解释结构起因与散射后果。带边分析用于解释能带收益，热输运只做有限辅助检验，既不扩展为多材料全空间筛选，也不以预测高ZT代替机制研究。</a:t>
            </a:r>
          </a:p>
          <a:p/>
          <a:p>
            <a:r>
              <a:t>状态：研究设计。配图：原创可编辑概念示意；不代表已计算数据。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热电优值ZT由塞贝克系数、电导率与总热导共同决定。器件效率不能由某个温度的材料ZT单独确定。本项目将大问题收敛到可检验的载流子散射机制，PF是直接输出，热导用于补充评价。</a:t>
            </a:r>
          </a:p>
          <a:p/>
          <a:p>
            <a:r>
              <a:t>状态：背景。配图：原创可编辑概念示意；不代表已计算数据。</a:t>
            </a:r>
          </a:p>
          <a:p>
            <a:r>
              <a:t>来源：修订稿1.1；公式为定义，图为功能示意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增加能谷数量并不自动提升PF，因为谷间散射、合金势扰动及载流子补偿都可能改变迁移率。图示表达待检验关系，不是计算性能曲线。</a:t>
            </a:r>
          </a:p>
          <a:p/>
          <a:p>
            <a:r>
              <a:t>状态：科学矛盾。配图：原创可编辑概念示意；不代表已计算数据。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材料现状依据原申请书中Ramirez、Saparamadu和Huo等论文题录组织。当前不重复未经核实的具体ZT或热导数值；须回查原始样品的Mg过量、Bi非化学计量与测试条件。</a:t>
            </a:r>
          </a:p>
          <a:p/>
          <a:p>
            <a:r>
              <a:t>状态：文献线索。配图：原创可编辑概念示意；不代表已计算数据。</a:t>
            </a:r>
          </a:p>
          <a:p>
            <a:r>
              <a:t>来源：Ramirez等，2015；Saparamadu等，2020；Huo等，2022。原文细节待回查。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SmMg2Bi2采用CaAl2Si2型结构。右图仅用于说明取代位点关系，不替代CIF或具体原子坐标。Ca和Ge的实际占位与价态依原始数据和计算验证，不能只依据形式电子计数推断可达空穴浓度。</a:t>
            </a:r>
          </a:p>
          <a:p/>
          <a:p>
            <a:r>
              <a:t>状态：研究对象。配图：原创可编辑概念示意；不代表已计算数据。</a:t>
            </a:r>
          </a:p>
          <a:p>
            <a:r>
              <a:t>来源：P−3m1，第164号；实际占位以原始结构文件核对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三个缺口分别连接结构起因、输运可信度和解释有效性。方法模型需要服务于这些缺口，而不是把引入AI或增加训练模型数量写成新的科学问题。</a:t>
            </a:r>
          </a:p>
          <a:p/>
          <a:p>
            <a:r>
              <a:t>状态：立项逻辑。配图：原创可编辑概念示意；不代表已计算数据。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第一问侧重局域键合和结构弛豫的微观作用路径，第二问侧重不同载流子与缺陷条件下结果是否成立。两问相互衔接，均限定于Ca/Ge取代SmMg2Bi2。</a:t>
            </a:r>
          </a:p>
          <a:p/>
          <a:p>
            <a:r>
              <a:t>状态：科学问题。配图：原创可编辑概念示意；不代表已计算数据。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图中各路径为拟检验假设而非已证实因果关系。使用配对构型、固定几何与充分弛豫对照，再由显式散射计算验证；若未发现性能提高，应形成失效机制与边界结论。</a:t>
            </a:r>
          </a:p>
          <a:p/>
          <a:p>
            <a:r>
              <a:t>状态：待验证假设。配图：原创可编辑概念示意；不代表已计算数据。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初始40至60个构型仅开展结构和电子信息；显式电输运限定母相加3至5个代表构型；热输运限定母相加3个代表性取代构型。规模为建议设计，依据首年试算成本核定。</a:t>
            </a:r>
          </a:p>
          <a:p/>
          <a:p>
            <a:r>
              <a:t>状态：研究内容。配图：原创可编辑概念示意；不代表已计算数据。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交互项为双取代性质减去两项单取代再加母相，表示给定参照条件下的非加和响应。非零不等于改善，正负需结合Q的含义解读。所有比较必须在统一精度和明确物理条件下进行。</a:t>
            </a:r>
          </a:p>
          <a:p/>
          <a:p>
            <a:r>
              <a:t>状态：任务一。配图：原创可编辑概念示意；不代表已计算数据。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U值需依据物理或实验约束，不以提升ZT调参。TB-mBJ只用于电子态交叉检验，不用于总能优化；必要时少量HSE06复核。稳定性需结合竞争相、声子和缺陷补偿判断。</a:t>
            </a:r>
          </a:p>
          <a:p/>
          <a:p>
            <a:r>
              <a:t>状态：方法保障。配图：原创可编辑概念示意；不代表已计算数据。</a:t>
            </a:r>
          </a:p>
          <a:p>
            <a:r>
              <a:t>来源：方法范围见修订稿2.3（1）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对照设计用于区分化学与几何贡献，但分解依赖参照选择，不应宣称得到唯一严格的因果分量。需要多构型和合理电子态比较确认排序稳健。</a:t>
            </a:r>
          </a:p>
          <a:p/>
          <a:p>
            <a:r>
              <a:t>状态：任务二。配图：原创可编辑概念示意；不代表已计算数据。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AMSET等框架只在相应近似有效时使用；其默认散射模型不能自动完整覆盖谷间或复杂合金散射。关键机制判断需借助更直接的耦合计算复核。先固定T和p对照，再加入实际缺陷和浓度可达性约束。</a:t>
            </a:r>
          </a:p>
          <a:p/>
          <a:p>
            <a:r>
              <a:t>状态：任务二。配图：原创可编辑概念示意；不代表已计算数据。</a:t>
            </a:r>
          </a:p>
          <a:p>
            <a:r>
              <a:t>来源：Madsen等，2018；Ganose等，2021。软件适用性须以目标体系验证。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AI加速的是选点与信息整合，而不是用代理模型替代物理散射计算。昂贵带边或力常数特征只能用于相应信息已计算的候选，不能作为免费获取的全空间输入。最多三轮主动学习，失败后采用覆盖采样。</a:t>
            </a:r>
          </a:p>
          <a:p/>
          <a:p>
            <a:r>
              <a:t>状态：AI辅助方案。配图：原创可编辑概念示意；不代表已计算数据。</a:t>
            </a:r>
          </a:p>
          <a:p>
            <a:r>
              <a:t>来源：康鹏等，2026；Sheng等，2020。其他材料精度不直接迁移为本项目证据。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同一构型在不同温度下的数据不能分散到训练集和测试集，避免近重复泄漏。AI价值需体现为相同计算预算下更稳定的预测或更有效的机制判别，没有增益也应如实报告。</a:t>
            </a:r>
          </a:p>
          <a:p/>
          <a:p>
            <a:r>
              <a:t>状态：AI验收设计。配图：原创可编辑概念示意；不代表已计算数据。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每一步有明确输入、方法和输出。失败构型、模型误差及不符合假设的结果均记录，确保最终机制判断可以追溯到具体计算条件。</a:t>
            </a:r>
          </a:p>
          <a:p/>
          <a:p>
            <a:r>
              <a:t>状态：技术路线。配图：原创可编辑概念示意；不代表已计算数据。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声子输运是辅助任务，不增加一条同等规模的材料筛选或力场训练主线。周期取代结构与随机合金散射要区分，避免重复计入；强非谐时限定近似范围并作必要交叉检验。</a:t>
            </a:r>
          </a:p>
          <a:p/>
          <a:p>
            <a:r>
              <a:t>状态：辅助验证。配图：原创可编辑概念示意；不代表已计算数据。</a:t>
            </a:r>
          </a:p>
          <a:p>
            <a:r>
              <a:t>来源：Li等，ShengBTE，2014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两条创新分别对应微观起因与输运后果。第一条由受控结构对照支撑，第二条由显式散射、固定条件和独立构型检验支撑。AI算法或软件组合本身不作为独立创新声明。</a:t>
            </a:r>
          </a:p>
          <a:p/>
          <a:p>
            <a:r>
              <a:t>状态：拟形成的新认识。配图：原创可编辑概念示意；不代表已计算数据。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三项论文来自原申请书，分别发表于ACS Applied Energy Materials 2023、RSC Advances 2022和Scientific Reports 2017。这里展示方法衔接，不把其他材料的理论结果外推为Sm基机制已经证实；不使用未更新的引用次数和影响因子。</a:t>
            </a:r>
          </a:p>
          <a:p/>
          <a:p>
            <a:r>
              <a:t>状态：原稿列示成果。配图：原创可编辑概念示意；不代表已计算数据。</a:t>
            </a:r>
          </a:p>
          <a:p>
            <a:r>
              <a:t>来源：申请人原稿所列相关论文；具体初算证据仍待补充。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资源信息为申请人提供，平台总节点数不等于项目可独占资源。需要核实软件授权、显式散射样例与可保障机时。外部合作是补充，不成为完成核心机制任务的未落实前提。</a:t>
            </a:r>
          </a:p>
          <a:p/>
          <a:p>
            <a:r>
              <a:t>状态：可行性与待核实条件。配图：原创可编辑概念示意；不代表已计算数据。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风险应在第一年做代表样例验证。任何回退都须保留对局域畸变与散射的核心检验，而不是用容易通过的代理指标替代机制证据。</a:t>
            </a:r>
          </a:p>
          <a:p/>
          <a:p>
            <a:r>
              <a:t>状态：风险控制。配图：原创可编辑概念示意；不代表已计算数据。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年度安排保留原2027工作稿的2028至2030假定。第一年要完成高风险流程样例与真实成本，而不是只做文献和训练模型。最终以正式指南及批准期限为准。</a:t>
            </a:r>
          </a:p>
          <a:p/>
          <a:p>
            <a:r>
              <a:t>状态：拟议计划。配图：原创可编辑概念示意；不代表已计算数据。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这些是拟议成果而非既有产出。候选组分不等于实验验证材料，负结果也应形成可审查的作用机制。论文和培养目标作为辅助产出，不能替代科学问题的完成。</a:t>
            </a:r>
          </a:p>
          <a:p/>
          <a:p>
            <a:r>
              <a:t>状态：预期成果。配图：原创可编辑概念示意；不代表已计算数据。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请专家重点评价问题集中程度、控制变量是否充分、显式散射路线与工作量是否匹配。科学贡献是机制认识及边界，AI用于帮助以有限数据获得关键证据。</a:t>
            </a:r>
          </a:p>
          <a:p/>
          <a:p>
            <a:r>
              <a:t>状态：总结。配图：原创可编辑概念示意；不代表已计算数据。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原完整PDF简历列出山东省自然科学基金青年面上项目，正文对应栏却写无。应据任务书核实并消除前后不一致，不能仅凭题名认定重复，也不能直接宣称没有重复。</a:t>
            </a:r>
          </a:p>
          <a:p/>
          <a:p>
            <a:r>
              <a:t>状态：提交前核实。配图：原创可编辑概念示意；不代表已计算数据。</a:t>
            </a:r>
          </a:p>
          <a:p>
            <a:r>
              <a:t>来源：原申请书PDF第28页简历所列；以申请时真实状态更新。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已读取综述、评审反馈和原申请书。部分原始论文仅由附件题录及综述获知，需回查全文与适用条件。此页不表示所有引用已独立核验，也不补造缺失DOI。</a:t>
            </a:r>
          </a:p>
          <a:p/>
          <a:p>
            <a:r>
              <a:t>状态：参考依据。配图：原创可编辑概念示意；不代表已计算数据。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修订将评审意见落实为可审查任务：元素选择有材料文献起点，电导率有散射约束，AI有独立验证，工作量有分层安排。提交前仍应补齐前期数据、机时授权与省基金任务差异。</a:t>
            </a:r>
          </a:p>
          <a:p/>
          <a:p>
            <a:r>
              <a:t>状态：回应矩阵。配图：原创可编辑概念示意；不代表已计算数据。</a:t>
            </a:r>
          </a:p>
          <a:p>
            <a:r>
              <a:t>来源：图为研究设计/概念示意，非已完成计算结果。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6492240" cy="2011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AI辅助的Ca/Ge双位点取代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SmMg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局域畸变与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载流子散射机制研究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246120"/>
            <a:ext cx="950976" cy="50292"/>
          </a:xfrm>
          <a:prstGeom prst="roundRect">
            <a:avLst>
              <a:gd name="adj" fmla="val 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657600"/>
            <a:ext cx="5806440" cy="502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2027年度青年科学基金项目（C类）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4251960"/>
            <a:ext cx="5806440" cy="502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汇报人：张菊｜青岛滨海学院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4846320"/>
            <a:ext cx="5806440" cy="502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聚焦：局域畸变如何改变载流子散射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60361" y="2670657"/>
            <a:ext cx="1155953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16315" y="2670657"/>
            <a:ext cx="1155953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72269" y="2670657"/>
            <a:ext cx="1155954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392695" y="2603032"/>
            <a:ext cx="135331" cy="135249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8649" y="2603032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04603" y="2603032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60557" y="2603032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460361" y="3473704"/>
            <a:ext cx="1155953" cy="59171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616315" y="3473704"/>
            <a:ext cx="1155953" cy="59171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72269" y="3473704"/>
            <a:ext cx="1155954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92695" y="3406079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8649" y="3465250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04603" y="3406079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60557" y="3406079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460361" y="4276750"/>
            <a:ext cx="1155953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16315" y="4276750"/>
            <a:ext cx="1155953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72269" y="4276750"/>
            <a:ext cx="1155954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92695" y="4209125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48649" y="4209125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04603" y="4209125"/>
            <a:ext cx="135331" cy="135249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60557" y="4209125"/>
            <a:ext cx="135331" cy="135249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60361" y="2670657"/>
            <a:ext cx="0" cy="1606092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928223" y="2670657"/>
            <a:ext cx="0" cy="1606092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94725" y="2078939"/>
            <a:ext cx="0" cy="507187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048305" y="2510458"/>
            <a:ext cx="46420" cy="75668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94725" y="2510458"/>
            <a:ext cx="46420" cy="75668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37451" y="1825345"/>
            <a:ext cx="2114550" cy="3381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48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Sm位 → Ca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10082403" y="4234485"/>
            <a:ext cx="296037" cy="718515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082403" y="4234484"/>
            <a:ext cx="71751" cy="52304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0068308" y="4234484"/>
            <a:ext cx="14095" cy="87632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59492" y="4995265"/>
            <a:ext cx="1860804" cy="3381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480" b="1">
                <a:solidFill>
                  <a:srgbClr val="D29650"/>
                </a:solidFill>
                <a:latin typeface="Microsoft YaHei"/>
              </a:defRPr>
            </a:pPr>
            <a:r>
              <a:rPr>
                <a:ea typeface="Microsoft YaHei"/>
              </a:rPr>
              <a:t>Bi位 → Ge</a:t>
            </a:r>
          </a:p>
        </p:txBody>
      </p:sp>
      <p:sp>
        <p:nvSpPr>
          <p:cNvPr id="41" name="Oval 40"/>
          <p:cNvSpPr/>
          <p:nvPr/>
        </p:nvSpPr>
        <p:spPr>
          <a:xfrm>
            <a:off x="8754465" y="3025688"/>
            <a:ext cx="676656" cy="676249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2880" y="3118672"/>
            <a:ext cx="558241" cy="5494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11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局域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11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畸变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1197" y="5291124"/>
            <a:ext cx="4059935" cy="2535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17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位点与键合关系概念示意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897880"/>
            <a:ext cx="1051560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AI辅助选点 · 第一性原理验证 · 散射机制解释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项目概览：对象、问题、方法与产出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研究设计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对象：Ca/Ge双位点取代SmMg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问题：结构扰动怎样改变散射与PF？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路径：配对对照＋显式散射＋AI选点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产出：作用路径、适用条件与反例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3" y="234086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36829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3" y="221284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235915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Ca/Ge取代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288036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874360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24544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18503" y="326669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5" y="329412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8583" y="313867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328498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局域畸变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24544" y="380619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874360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24544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18503" y="419252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421995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58583" y="406450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421081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散射通道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24544" y="473202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874360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24544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318503" y="511835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5" y="514578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58583" y="499033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95744" y="513664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迁移率 / PF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研究背景：从热电指标回到载流子输运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背景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功率因子PF＝S²σ是重要电输运指标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成分改变常同时影响能带与散射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器件效率还受温差与接触等因素影响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3035808"/>
            <a:ext cx="960120" cy="1828800"/>
          </a:xfrm>
          <a:prstGeom prst="roundRect">
            <a:avLst>
              <a:gd name="adj" fmla="val 7619"/>
            </a:avLst>
          </a:prstGeom>
          <a:solidFill>
            <a:srgbClr val="BD5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721608"/>
            <a:ext cx="676656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热端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3263" y="3035808"/>
            <a:ext cx="960120" cy="1828800"/>
          </a:xfrm>
          <a:prstGeom prst="roundRect">
            <a:avLst>
              <a:gd name="adj" fmla="val 7619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0424" y="3721608"/>
            <a:ext cx="68580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7263" y="3310128"/>
            <a:ext cx="210312" cy="1325880"/>
          </a:xfrm>
          <a:prstGeom prst="roundRect">
            <a:avLst>
              <a:gd name="adj" fmla="val 1500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93023" y="3310128"/>
            <a:ext cx="210312" cy="1325880"/>
          </a:xfrm>
          <a:prstGeom prst="roundRect">
            <a:avLst>
              <a:gd name="adj" fmla="val 15000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58784" y="3310128"/>
            <a:ext cx="210312" cy="1325880"/>
          </a:xfrm>
          <a:prstGeom prst="roundRect">
            <a:avLst>
              <a:gd name="adj" fmla="val 1500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4544" y="3310128"/>
            <a:ext cx="210312" cy="1325880"/>
          </a:xfrm>
          <a:prstGeom prst="roundRect">
            <a:avLst>
              <a:gd name="adj" fmla="val 15000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0304" y="3310128"/>
            <a:ext cx="210312" cy="1325880"/>
          </a:xfrm>
          <a:prstGeom prst="roundRect">
            <a:avLst>
              <a:gd name="adj" fmla="val 1500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479792" y="3904487"/>
            <a:ext cx="347471" cy="0"/>
          </a:xfrm>
          <a:prstGeom prst="line">
            <a:avLst/>
          </a:prstGeom>
          <a:ln w="2540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745411" y="3904487"/>
            <a:ext cx="81852" cy="50184"/>
          </a:xfrm>
          <a:prstGeom prst="line">
            <a:avLst/>
          </a:prstGeom>
          <a:ln w="2540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745411" y="3854303"/>
            <a:ext cx="81852" cy="50184"/>
          </a:xfrm>
          <a:prstGeom prst="line">
            <a:avLst/>
          </a:prstGeom>
          <a:ln w="2540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29216" y="3904487"/>
            <a:ext cx="292608" cy="0"/>
          </a:xfrm>
          <a:prstGeom prst="line">
            <a:avLst/>
          </a:prstGeom>
          <a:ln w="254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939972" y="3904487"/>
            <a:ext cx="81852" cy="50184"/>
          </a:xfrm>
          <a:prstGeom prst="line">
            <a:avLst/>
          </a:prstGeom>
          <a:ln w="254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939972" y="3854303"/>
            <a:ext cx="81852" cy="50184"/>
          </a:xfrm>
          <a:prstGeom prst="line">
            <a:avLst/>
          </a:prstGeom>
          <a:ln w="254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18704" y="4727448"/>
            <a:ext cx="0" cy="548639"/>
          </a:xfrm>
          <a:prstGeom prst="line">
            <a:avLst/>
          </a:prstGeom>
          <a:ln w="19050">
            <a:solidFill>
              <a:srgbClr val="173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8704" y="5276088"/>
            <a:ext cx="1737360" cy="0"/>
          </a:xfrm>
          <a:prstGeom prst="line">
            <a:avLst/>
          </a:prstGeom>
          <a:ln w="19050">
            <a:solidFill>
              <a:srgbClr val="173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56063" y="4727449"/>
            <a:ext cx="0" cy="548639"/>
          </a:xfrm>
          <a:prstGeom prst="line">
            <a:avLst/>
          </a:prstGeom>
          <a:ln w="19050">
            <a:solidFill>
              <a:srgbClr val="173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604504" y="5056632"/>
            <a:ext cx="457200" cy="457200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14232" y="5138928"/>
            <a:ext cx="2743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2350008"/>
            <a:ext cx="233172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PF = S²σ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3" y="5687568"/>
            <a:ext cx="393192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温差驱动热电转换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修订稿1.1；公式为定义，图为功能示意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科学矛盾：带边有利，功率因子未必提高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科学矛盾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能谷接近可能增加参与输运的电子态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局域扰动也可能增强谷间或合金散射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关键是带边收益与迁移率损失的净效应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2441448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587752"/>
            <a:ext cx="2103120" cy="8961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带边收益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2441448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9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587752"/>
            <a:ext cx="2103120" cy="8961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D5B53"/>
                </a:solidFill>
                <a:latin typeface="Microsoft YaHei"/>
              </a:defRPr>
            </a:pPr>
            <a:r>
              <a:rPr>
                <a:ea typeface="Microsoft YaHei"/>
              </a:rPr>
              <a:t>散射代价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840480"/>
            <a:ext cx="201168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能谷 / 色散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840480"/>
            <a:ext cx="201168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D5B53"/>
                </a:solidFill>
                <a:latin typeface="Microsoft YaHei"/>
              </a:defRPr>
            </a:pPr>
            <a:r>
              <a:rPr>
                <a:ea typeface="Microsoft YaHei"/>
              </a:rPr>
              <a:t>迁移率损失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15783" y="4453128"/>
            <a:ext cx="777239" cy="54864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097212" y="4995564"/>
            <a:ext cx="95811" cy="620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155093" y="4913567"/>
            <a:ext cx="37930" cy="88201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90304" y="4453128"/>
            <a:ext cx="731520" cy="548640"/>
          </a:xfrm>
          <a:prstGeom prst="line">
            <a:avLst/>
          </a:prstGeom>
          <a:ln w="1905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90304" y="4912510"/>
            <a:ext cx="35371" cy="89258"/>
          </a:xfrm>
          <a:prstGeom prst="line">
            <a:avLst/>
          </a:prstGeom>
          <a:ln w="1905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90304" y="4992804"/>
            <a:ext cx="95592" cy="8964"/>
          </a:xfrm>
          <a:prstGeom prst="line">
            <a:avLst/>
          </a:prstGeom>
          <a:ln w="19050">
            <a:solidFill>
              <a:srgbClr val="BD5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15783" y="5047488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5193792"/>
            <a:ext cx="246888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PF变化：待验证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研究基础文献：已有现象留下机制问题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文献线索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SmMg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已有合成与表征研究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能带工程和合金化提供输运调控线索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Ca合金化/Ge掺杂提供明确实验起点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仍需统一条件下分解各项贡献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729983" y="2395728"/>
            <a:ext cx="0" cy="3291840"/>
          </a:xfrm>
          <a:prstGeom prst="line">
            <a:avLst/>
          </a:prstGeom>
          <a:ln w="381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592824" y="2395728"/>
            <a:ext cx="274320" cy="274320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32904" y="2258568"/>
            <a:ext cx="3886200" cy="6858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3" y="2404872"/>
            <a:ext cx="3611880" cy="4846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2015 合成表征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328416"/>
            <a:ext cx="274320" cy="274320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32904" y="3191256"/>
            <a:ext cx="3886200" cy="6858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3" y="3337560"/>
            <a:ext cx="3611880" cy="4846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2020 能带与合金</a:t>
            </a:r>
          </a:p>
        </p:txBody>
      </p:sp>
      <p:sp>
        <p:nvSpPr>
          <p:cNvPr id="24" name="Oval 23"/>
          <p:cNvSpPr/>
          <p:nvPr/>
        </p:nvSpPr>
        <p:spPr>
          <a:xfrm>
            <a:off x="6592824" y="4261104"/>
            <a:ext cx="274320" cy="274320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32904" y="4123944"/>
            <a:ext cx="3886200" cy="6858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3" y="4270248"/>
            <a:ext cx="3611880" cy="4846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2022 Ca / Ge</a:t>
            </a:r>
          </a:p>
        </p:txBody>
      </p:sp>
      <p:sp>
        <p:nvSpPr>
          <p:cNvPr id="27" name="Oval 26"/>
          <p:cNvSpPr/>
          <p:nvPr/>
        </p:nvSpPr>
        <p:spPr>
          <a:xfrm>
            <a:off x="6592824" y="5193792"/>
            <a:ext cx="274320" cy="274320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32904" y="5056632"/>
            <a:ext cx="3886200" cy="68580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3" y="5202936"/>
            <a:ext cx="3611880" cy="4846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机制待分解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Ramirez等，2015；Saparamadu等，2020；Huo等，2022。原文细节待回查。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研究对象：Ca与Ge提供两类可对照扰动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研究对象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Ca取代Sm位：尺寸与局域成键环境改变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Ge取代Bi位：质量、价电子与成键改变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局域近邻/远离排列用于检验构型效应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载流子浓度需结合缺陷补偿判断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67144" y="2990088"/>
            <a:ext cx="124967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16823" y="2990088"/>
            <a:ext cx="124967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66503" y="2990088"/>
            <a:ext cx="124968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793992" y="2916936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3672" y="291693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3351" y="291693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43032" y="291693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867144" y="3858768"/>
            <a:ext cx="124967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116823" y="3858769"/>
            <a:ext cx="124967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66503" y="3858768"/>
            <a:ext cx="124968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793992" y="378561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3672" y="384962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93351" y="378561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43032" y="378561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867144" y="4727448"/>
            <a:ext cx="124967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16823" y="4727448"/>
            <a:ext cx="124967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66503" y="4727448"/>
            <a:ext cx="124968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793992" y="465429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3672" y="465429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93351" y="4654296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43032" y="4654296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867144" y="2990088"/>
            <a:ext cx="0" cy="173736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616184" y="2990088"/>
            <a:ext cx="0" cy="173736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52944" y="2350008"/>
            <a:ext cx="0" cy="548640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7502760" y="2816796"/>
            <a:ext cx="50184" cy="81852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52944" y="2816796"/>
            <a:ext cx="50184" cy="81852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9944" y="2075688"/>
            <a:ext cx="228600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Sm位 → Ca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9701784" y="4681728"/>
            <a:ext cx="320040" cy="777240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701784" y="4681728"/>
            <a:ext cx="77569" cy="56579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686546" y="4681728"/>
            <a:ext cx="15238" cy="94794"/>
          </a:xfrm>
          <a:prstGeom prst="line">
            <a:avLst/>
          </a:prstGeom>
          <a:ln w="19050">
            <a:solidFill>
              <a:srgbClr val="D29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244584" y="5504688"/>
            <a:ext cx="20116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29650"/>
                </a:solidFill>
                <a:latin typeface="Microsoft YaHei"/>
              </a:defRPr>
            </a:pPr>
            <a:r>
              <a:rPr>
                <a:ea typeface="Microsoft YaHei"/>
              </a:rPr>
              <a:t>Bi位 → Ge</a:t>
            </a:r>
          </a:p>
        </p:txBody>
      </p:sp>
      <p:sp>
        <p:nvSpPr>
          <p:cNvPr id="48" name="Oval 47"/>
          <p:cNvSpPr/>
          <p:nvPr/>
        </p:nvSpPr>
        <p:spPr>
          <a:xfrm>
            <a:off x="8266175" y="3374136"/>
            <a:ext cx="731520" cy="73152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3474720"/>
            <a:ext cx="603504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局域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畸变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4264" y="5824728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位点与键合关系概念示意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P−3m1，第164号；实际占位以原始结构文件核对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立项逻辑：补齐三段可验证的证据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立项逻辑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缺口一：双取代变化是否超出单取代相加？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缺口二：带边收益是否经得起显式散射？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缺口三：描述符关联是否经得起独立对照？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8503" y="234086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236829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58583" y="221284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235915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单取代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24544" y="288036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874360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924544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318503" y="326669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329412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8583" y="313867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328498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双取代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4544" y="380619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8874360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924544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18503" y="419252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5" y="421995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58583" y="406450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421081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显式散射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24544" y="473202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874360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24544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318503" y="511835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514578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58583" y="499033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513664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独立验证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关键科学问题：结构起因与输运条件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科学问题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问题一：畸变如何改变带边轨道与散射？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问题二：何时保留或抵消带边调控收益？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对照：化学取代/几何弛豫与缺陷条件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证据：独立构型、散射通道和迁移率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244144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58775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结构起因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244144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258775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输运条件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15783" y="3721608"/>
            <a:ext cx="777239" cy="68580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098444" y="4390883"/>
            <a:ext cx="94579" cy="16525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164850" y="4315623"/>
            <a:ext cx="28173" cy="91785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90304" y="3721608"/>
            <a:ext cx="731520" cy="68580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90304" y="4314815"/>
            <a:ext cx="25391" cy="92593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90304" y="4388037"/>
            <a:ext cx="94037" cy="19371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50023" y="4498848"/>
            <a:ext cx="3429000" cy="868680"/>
          </a:xfrm>
          <a:prstGeom prst="roundRect">
            <a:avLst>
              <a:gd name="adj" fmla="val 12631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87183" y="4645152"/>
            <a:ext cx="3154680" cy="6675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局域畸变 → 散射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3" y="5687568"/>
            <a:ext cx="47548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固定T、p与缺陷条件的成组对照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09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工作假设：畸变通过带边与耦合共同影响PF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待验证假设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化学取代与弛豫贡献可能具有非加和性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构型变化可能改变主导散射通道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带边收益是否保留取决于散射与补偿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允许得到负结果与失效情形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2304288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2450592"/>
            <a:ext cx="2057400" cy="5760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化学取代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3" y="2304288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2450592"/>
            <a:ext cx="2057400" cy="5760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几何弛豫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70063" y="3264408"/>
            <a:ext cx="777240" cy="59435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051800" y="3848911"/>
            <a:ext cx="95504" cy="985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8112769" y="3769183"/>
            <a:ext cx="34535" cy="89585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336023" y="3264408"/>
            <a:ext cx="777240" cy="59435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336024" y="3769183"/>
            <a:ext cx="34535" cy="89585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336024" y="3848911"/>
            <a:ext cx="95504" cy="985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87183" y="3950208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4096512"/>
            <a:ext cx="2834640" cy="5303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带边态 / 电子—声子耦合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41663" y="4818888"/>
            <a:ext cx="0" cy="41148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8691479" y="514851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741663" y="514851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87183" y="5321808"/>
            <a:ext cx="3108960" cy="5943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5468112"/>
            <a:ext cx="2834640" cy="3931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散射与PF：独立计算检验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研究内容：三个任务围绕一条散射主线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研究内容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任务一：构型、稳定性与局域键合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任务二：带边态与显式载流子散射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任务三：独立构型验证与热电约束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AI选点贯穿任务，减少低信息计算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3" y="234086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36829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3" y="2212848"/>
            <a:ext cx="3886200" cy="795528"/>
          </a:xfrm>
          <a:prstGeom prst="roundRect">
            <a:avLst>
              <a:gd name="adj" fmla="val 13793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2359152"/>
            <a:ext cx="361188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构型与键合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3054096"/>
            <a:ext cx="0" cy="347471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874360" y="331971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24544" y="331971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18503" y="357530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5" y="360273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8583" y="3447288"/>
            <a:ext cx="3886200" cy="795528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3593591"/>
            <a:ext cx="361188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带边与散射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24544" y="4288536"/>
            <a:ext cx="0" cy="347471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874360" y="455415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24544" y="455415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18503" y="480974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483717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58583" y="4681728"/>
            <a:ext cx="3886200" cy="795528"/>
          </a:xfrm>
          <a:prstGeom prst="roundRect">
            <a:avLst>
              <a:gd name="adj" fmla="val 13793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4828032"/>
            <a:ext cx="361188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验证与约束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任务一：用四组配对识别交互作用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任务一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母相、Ca单取代、Ge单取代、Ca/Ge双取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代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相同超胞与可实现的取代比例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补充近邻/远离构型，避免个例外推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交互项需结合性质含义解释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1" y="2167128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9514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母相 Q</a:t>
            </a:r>
            <a:r>
              <a:rPr>
                <a:latin typeface="Cambria"/>
                <a:ea typeface="Microsoft YaHei"/>
              </a:rPr>
              <a:t>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0255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05471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08392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629400" y="2980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1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5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702552" y="3214116"/>
            <a:ext cx="502919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05471" y="3214116"/>
            <a:ext cx="502920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08392" y="321411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62940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19" y="3204972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3524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59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0255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05471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08392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62940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19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3524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8159" y="330098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70255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1131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42832" y="2167128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992" y="229514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Ca取代 QCa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45752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4867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45159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37260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75520" y="2980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7844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88135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445752" y="3214116"/>
            <a:ext cx="502920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948672" y="3214116"/>
            <a:ext cx="502919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51592" y="321411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372600" y="314096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75520" y="3204972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7844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81359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445752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4867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45159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37260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7552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37844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81359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44575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95451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199631" y="4133087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36792" y="426110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Ge取代 QGe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0255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205471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708392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62940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32319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635240" y="494690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38159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702552" y="5180075"/>
            <a:ext cx="50291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05471" y="5180076"/>
            <a:ext cx="502920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08392" y="5180075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62940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32319" y="5170931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63524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138159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70255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205471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08392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6629400" y="5266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3231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63524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13815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670255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21131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8942832" y="4133087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79992" y="426110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双取代 QCa+Ge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445752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94867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45159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37260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7552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37844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881359" y="494690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9445752" y="5180075"/>
            <a:ext cx="502920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8672" y="5180076"/>
            <a:ext cx="50291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451592" y="5180075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937260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875520" y="5170931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378440" y="5106923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881359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9445752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94867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45159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37260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875520" y="5266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37844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88135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944575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95451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272783" y="5943600"/>
            <a:ext cx="512064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ΔQint = QCa+Ge − QCa − QGe + Q</a:t>
            </a:r>
            <a:r>
              <a:rPr>
                <a:latin typeface="Cambria"/>
                <a:ea typeface="Microsoft YaHei"/>
              </a:rPr>
              <a:t>₀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任务一：先控制Sm电子态与计算精度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方法保障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PBE/PAW用于结构与能量基准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比较Sm 4f、磁态及SOC的影响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必要时DFT+U并报告参数敏感性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关键带边排序用交叉方法复核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3" y="234086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36829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3" y="221284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235915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结构收敛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288036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874360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24544" y="301110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18503" y="326669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5" y="329412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8583" y="313867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328498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4f / 磁态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24544" y="380619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874360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24544" y="3936935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18503" y="419252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421995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58583" y="406450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421081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SOC / 关联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24544" y="4732020"/>
            <a:ext cx="0" cy="212597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874360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24544" y="486276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318503" y="5118354"/>
            <a:ext cx="310896" cy="310896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5" y="5145786"/>
            <a:ext cx="21945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58583" y="4990338"/>
            <a:ext cx="3886200" cy="621792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95744" y="5136642"/>
            <a:ext cx="3611880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关键排序复核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方法范围见修订稿2.3（1）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任务二：分开化学取代与几何弛豫贡献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任务二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同一成分比较固定几何与充分弛豫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同一几何比较不同取代构型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分析带边轨道、局域键长及耦合变化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受控构型用于机制分解，不等于可合成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39572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54203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母相 / 固定几何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239572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54203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取代 / 固定几何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4" y="440740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455371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母相 / 弛豫几何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4407408"/>
            <a:ext cx="2331720" cy="960120"/>
          </a:xfrm>
          <a:prstGeom prst="roundRect">
            <a:avLst>
              <a:gd name="adj" fmla="val 11428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4553712"/>
            <a:ext cx="20574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取代 / 弛豫几何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0496" y="2898648"/>
            <a:ext cx="36576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824404" y="289864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8824404" y="284846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40496" y="4910328"/>
            <a:ext cx="36576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824404" y="49103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8824404" y="48601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78623" y="3538728"/>
            <a:ext cx="0" cy="68580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228439" y="41426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78623" y="41426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58984" y="3538728"/>
            <a:ext cx="0" cy="68580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108800" y="41426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158984" y="41426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64224" y="5715000"/>
            <a:ext cx="480060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横向：化学贡献；纵向：几何贡献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任务二：显式散射约束电导率与PF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任务二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BoltzTraP2初筛解释S与σ/τ等相应量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代表构型显式处理主要散射来源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核查谷间与合金散射的贡献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1—2个关键构型复核电子—声子耦合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350008"/>
            <a:ext cx="1645920" cy="960120"/>
          </a:xfrm>
          <a:prstGeom prst="roundRect">
            <a:avLst>
              <a:gd name="adj" fmla="val 11428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496312"/>
            <a:ext cx="13716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声学散射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58583" y="3538728"/>
            <a:ext cx="1783080" cy="77724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646577" y="4315968"/>
            <a:ext cx="95086" cy="13296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686682" y="4237258"/>
            <a:ext cx="54981" cy="7871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64423" y="2350008"/>
            <a:ext cx="1645920" cy="960120"/>
          </a:xfrm>
          <a:prstGeom prst="roundRect">
            <a:avLst>
              <a:gd name="adj" fmla="val 11428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3" y="2496312"/>
            <a:ext cx="13716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杂质 / 补偿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741665" y="3538728"/>
            <a:ext cx="45719" cy="77724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696372" y="4231310"/>
            <a:ext cx="45291" cy="84658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741663" y="4237204"/>
            <a:ext cx="54904" cy="7876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93224" y="2350008"/>
            <a:ext cx="1645920" cy="960120"/>
          </a:xfrm>
          <a:prstGeom prst="roundRect">
            <a:avLst>
              <a:gd name="adj" fmla="val 11428"/>
            </a:avLst>
          </a:prstGeom>
          <a:solidFill>
            <a:srgbClr val="F9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2496312"/>
            <a:ext cx="1371600" cy="758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D5B53"/>
                </a:solidFill>
                <a:latin typeface="Microsoft YaHei"/>
              </a:defRPr>
            </a:pPr>
            <a:r>
              <a:rPr>
                <a:ea typeface="Microsoft YaHei"/>
              </a:rPr>
              <a:t>谷间 / 合金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741664" y="3538728"/>
            <a:ext cx="1874520" cy="77724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741663" y="4238260"/>
            <a:ext cx="56389" cy="77708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41663" y="4315968"/>
            <a:ext cx="94831" cy="15006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55863" y="4114800"/>
            <a:ext cx="1371600" cy="1371600"/>
          </a:xfrm>
          <a:prstGeom prst="ellipse">
            <a:avLst/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4379976"/>
            <a:ext cx="987552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散射率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τ</a:t>
            </a:r>
            <a:r>
              <a:rPr>
                <a:latin typeface="Cambria"/>
                <a:ea typeface="Microsoft YaHei"/>
              </a:rPr>
              <a:t>⁻</a:t>
            </a:r>
            <a:r>
              <a:rPr>
                <a:ea typeface="Microsoft YaHei"/>
              </a:rPr>
              <a:t>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41663" y="5596128"/>
            <a:ext cx="0" cy="27432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691479" y="578859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41663" y="578859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24344" y="5815583"/>
            <a:ext cx="33832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迁移率 / σ / PF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Madsen等，2018；Ganose等，2021。软件适用性须以目标体系验证。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AI辅助环节：用不确定性寻找关键构型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AI辅助方案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输入：成分、质量差、局域键长与带边信息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模型：高斯过程回归与随机森林基线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选点：不确定性＋竞争机制判别需求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回证：独立DFT更新数据与解释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2304288"/>
            <a:ext cx="2212848" cy="914400"/>
          </a:xfrm>
          <a:prstGeom prst="roundRect">
            <a:avLst>
              <a:gd name="adj" fmla="val 12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2450592"/>
            <a:ext cx="193852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物理特征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304288"/>
            <a:ext cx="2212848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2450592"/>
            <a:ext cx="193852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小样本基线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4681728"/>
            <a:ext cx="2212848" cy="914400"/>
          </a:xfrm>
          <a:prstGeom prst="roundRect">
            <a:avLst>
              <a:gd name="adj" fmla="val 12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4828032"/>
            <a:ext cx="193852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不确定性选点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681728"/>
            <a:ext cx="2212848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3" y="4828032"/>
            <a:ext cx="193852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独立DFT回证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58784" y="2761488"/>
            <a:ext cx="36576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842692" y="276148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8842692" y="271130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04704" y="3447288"/>
            <a:ext cx="0" cy="100583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0154520" y="43712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204704" y="437127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604505" y="5138928"/>
            <a:ext cx="274319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604504" y="50887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04504" y="51389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78623" y="3447289"/>
            <a:ext cx="0" cy="100583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8623" y="3447288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228439" y="3447288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119871" y="3557016"/>
            <a:ext cx="1234440" cy="1234440"/>
          </a:xfrm>
          <a:prstGeom prst="ellipse">
            <a:avLst/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767328"/>
            <a:ext cx="960120" cy="777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AI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辅助选点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康鹏等，2026；Sheng等，2020。其他材料精度不直接迁移为本项目证据。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AI可信性：分组验证与同预算基线缺一不可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AI验收设计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同构型的多温度/浓度数据归同一组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预处理与特征选择只在训练折完成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独立测试误差与区间覆盖率同时报告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主动选点与随机选点按相同预算比较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578608"/>
            <a:ext cx="128016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训练组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0104" y="248716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0183" y="248716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70263" y="248716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0344" y="248716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50424" y="248716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3538728"/>
            <a:ext cx="128016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29650"/>
                </a:solidFill>
                <a:latin typeface="Microsoft YaHei"/>
              </a:defRPr>
            </a:pPr>
            <a:r>
              <a:rPr>
                <a:ea typeface="Microsoft YaHei"/>
              </a:rPr>
              <a:t>验证组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0104" y="344728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0183" y="344728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0263" y="344728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10344" y="344728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50424" y="344728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4498848"/>
            <a:ext cx="128016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独立测试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0104" y="440740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30183" y="440740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0263" y="440740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10344" y="440740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50424" y="4407408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0023" y="5504688"/>
            <a:ext cx="448056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同一构型家族归同一组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5897880"/>
            <a:ext cx="50292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主动选点 ↔ 随机选点：相同计算预算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总体技术路线：AI选点嵌入物理验证闭环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技术路线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文献与母相基准→稳定性和四组配对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结构/电子数据→AI辅助关键构型选取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显式散射→化学/几何贡献分解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独立构型/缺陷验证→热电约束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235000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249631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母相基准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35000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49631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四组配对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35000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249631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AI选点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59028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73659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显式散射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459028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473659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机制分解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590288"/>
            <a:ext cx="1444752" cy="1005840"/>
          </a:xfrm>
          <a:prstGeom prst="roundRect">
            <a:avLst>
              <a:gd name="adj" fmla="val 10909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3" y="4736592"/>
            <a:ext cx="1170432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独立验证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7536" y="2852928"/>
            <a:ext cx="219456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855140" y="28529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855140" y="28027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64624" y="2852928"/>
            <a:ext cx="219455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702228" y="28529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702228" y="28027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97896" y="3584448"/>
            <a:ext cx="0" cy="77723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547712" y="427983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597896" y="4279836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564625" y="5093208"/>
            <a:ext cx="219455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564624" y="504302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64624" y="509320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717536" y="5093208"/>
            <a:ext cx="219456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17536" y="504302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17536" y="509320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55664" y="5843016"/>
            <a:ext cx="4754880" cy="3017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失败构型与反例保留，全流程可回溯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辅助热输运：回答电输运结论的热电意义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辅助验证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仅母相与3个代表性取代构型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力常数与声子BTE计算κL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说明周期结构与随机无序的边界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保留必要收敛检验，控制任务规模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1" y="2167128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9514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母相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0255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05471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08392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629400" y="2980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1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5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702552" y="3214116"/>
            <a:ext cx="502919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05471" y="3214116"/>
            <a:ext cx="502920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08392" y="321411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62940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19" y="3204972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3524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59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0255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05471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08392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62940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19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3524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8159" y="330098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70255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1131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42832" y="2167128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992" y="229514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Ca单取代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45752" y="3054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4867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451592" y="3054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37260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75520" y="2980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78440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881359" y="2980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445752" y="3214116"/>
            <a:ext cx="502920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948672" y="3214116"/>
            <a:ext cx="502919" cy="64008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51592" y="321411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372600" y="314096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75520" y="3204972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78440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81359" y="314096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445752" y="337413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4867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451592" y="337413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37260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7552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378440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81359" y="330098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44575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954512" y="3054096"/>
            <a:ext cx="0" cy="320039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199631" y="4133087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36792" y="426110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Ge单取代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0255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205471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708392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62940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32319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635240" y="494690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38159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702552" y="5180075"/>
            <a:ext cx="50291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05471" y="5180076"/>
            <a:ext cx="502920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08392" y="5180075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62940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32319" y="5170931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63524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138159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70255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205471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08392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6629400" y="5266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3231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63524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13815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670255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21131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8942832" y="4133087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79992" y="4261104"/>
            <a:ext cx="2276856" cy="4206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Ca / Ge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445752" y="502005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94867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451592" y="502005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37260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7552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378440" y="494690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881359" y="494690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9445752" y="5180075"/>
            <a:ext cx="502920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8672" y="5180076"/>
            <a:ext cx="502919" cy="64007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451592" y="5180075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9372600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875520" y="5170931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378440" y="5106923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881359" y="5106923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9445752" y="5340096"/>
            <a:ext cx="502920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94867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451592" y="5340096"/>
            <a:ext cx="502919" cy="0"/>
          </a:xfrm>
          <a:prstGeom prst="line">
            <a:avLst/>
          </a:prstGeom>
          <a:ln w="1778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37260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875520" y="5266944"/>
            <a:ext cx="146304" cy="146304"/>
          </a:xfrm>
          <a:prstGeom prst="ellipse">
            <a:avLst/>
          </a:prstGeom>
          <a:solidFill>
            <a:srgbClr val="D2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378440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881359" y="5266944"/>
            <a:ext cx="146304" cy="14630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944575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954512" y="5020056"/>
            <a:ext cx="0" cy="320040"/>
          </a:xfrm>
          <a:prstGeom prst="line">
            <a:avLst/>
          </a:prstGeom>
          <a:ln w="1270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Li等，ShengBTE，2014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创新点：结构—散射认识与条件判别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1067943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拟形成的新认识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创新一：分解化学/几何贡献，识别散射路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径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创新二：在散射与补偿约束下评价带边收益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AI辅助获得关键证据，服务于科学问题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创新以可检验认识和适用边界体现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3055" y="2578608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724912"/>
            <a:ext cx="1874520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化学 / 几何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67344" y="3054096"/>
            <a:ext cx="502919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88411" y="3054096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888411" y="3003912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07424" y="2578608"/>
            <a:ext cx="2212848" cy="1005840"/>
          </a:xfrm>
          <a:prstGeom prst="roundRect">
            <a:avLst>
              <a:gd name="adj" fmla="val 10909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2724912"/>
            <a:ext cx="1938528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散射作用路径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5" y="4407408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4553712"/>
            <a:ext cx="1874520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散射 / 补偿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67344" y="4882896"/>
            <a:ext cx="502919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888411" y="4882896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888411" y="4832712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07424" y="4407408"/>
            <a:ext cx="2212848" cy="1005840"/>
          </a:xfrm>
          <a:prstGeom prst="roundRect">
            <a:avLst>
              <a:gd name="adj" fmla="val 10909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584" y="4553712"/>
            <a:ext cx="1938528" cy="8046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PF成立条件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前期基础：三项相关工作支撑方法衔接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原稿列示成果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NbCoSb：空位/Ni取代与带边态研究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Sb–Br/Bi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Se</a:t>
            </a:r>
            <a:r>
              <a:rPr>
                <a:latin typeface="Cambria"/>
                <a:ea typeface="Microsoft YaHei"/>
              </a:rPr>
              <a:t>₃</a:t>
            </a:r>
            <a:r>
              <a:rPr>
                <a:ea typeface="Microsoft YaHei"/>
              </a:rPr>
              <a:t>：共掺、键合与输运研究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Hf/Sb/ZrNiSn：共掺杂第一性原理研究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SmMg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初算声明需补输入与收敛数据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441448"/>
            <a:ext cx="1645920" cy="3063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35624" y="2441448"/>
            <a:ext cx="1645920" cy="109728"/>
          </a:xfrm>
          <a:prstGeom prst="roundRect">
            <a:avLst>
              <a:gd name="adj" fmla="val 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779776"/>
            <a:ext cx="1371600" cy="960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NbCoSb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0216" y="3950208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00216" y="4206240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0216" y="4462272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00216" y="4718304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5093208"/>
            <a:ext cx="13990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ACS AEM · 2023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4423" y="2441448"/>
            <a:ext cx="1645920" cy="3063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64423" y="2441448"/>
            <a:ext cx="1645920" cy="109728"/>
          </a:xfrm>
          <a:prstGeom prst="roundRect">
            <a:avLst>
              <a:gd name="adj" fmla="val 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3" y="2779776"/>
            <a:ext cx="1371600" cy="960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Sb–Br共掺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Se</a:t>
            </a:r>
            <a:r>
              <a:rPr>
                <a:latin typeface="Cambria"/>
                <a:ea typeface="Microsoft YaHei"/>
              </a:rPr>
              <a:t>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29016" y="3950208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29016" y="4206240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29016" y="4462272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29016" y="4718304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92440" y="5093208"/>
            <a:ext cx="13990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RSC Adv. · 2022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93224" y="2441448"/>
            <a:ext cx="1645920" cy="3063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93224" y="2441448"/>
            <a:ext cx="1645920" cy="109728"/>
          </a:xfrm>
          <a:prstGeom prst="roundRect">
            <a:avLst>
              <a:gd name="adj" fmla="val 0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2779776"/>
            <a:ext cx="1371600" cy="960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Hf/Sb共掺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ZrNiSn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57816" y="3950208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957816" y="4206240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957816" y="4462272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57816" y="4718304"/>
            <a:ext cx="1298448" cy="0"/>
          </a:xfrm>
          <a:prstGeom prst="line">
            <a:avLst/>
          </a:prstGeom>
          <a:ln w="1651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921240" y="5093208"/>
            <a:ext cx="1399032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Sci. Rep. ·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3" y="5779008"/>
            <a:ext cx="42976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成果主题示意；非原始论文封面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申请人原稿所列相关论文；具体初算证据仍待补充。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可行性：四个维度与实际资源相互支撑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1315593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可行性与待核实条件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理论：DFT与输运方程建立微观到宏观链条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技术：已有共掺与输运研究经验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基础：相关论文与母相初算记录待完善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条件：按实际64核/4 TB配额核算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455664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55664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5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理论基础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257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198863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98863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34856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技术储备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25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455664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55664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91655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前期工作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57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198863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98863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34856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团队条件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风险与替代：保留问题，调整模型与范围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风险控制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4f/磁态敏感→比较合理模型与稳健排序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取代失稳/补偿强→收缩至可达组分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散射推翻初筛→报告失效条件与反例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学习无增益→覆盖采样与直接计算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25856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40487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4f / 磁态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94192" y="257860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69540" y="257860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769540" y="252842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15984" y="225856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240487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合理模型比较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321868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336499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稳定性不足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94192" y="353872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769540" y="35387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769540" y="34885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15984" y="321868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336499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可达组分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417880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3" y="432511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散射代价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94192" y="449884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769540" y="449884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69540" y="444866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15984" y="417880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32511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阈值与反例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35624" y="513892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3" y="528523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AI无增益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94192" y="545896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69540" y="545896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8769540" y="540878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15984" y="513892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528523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覆盖采样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三年安排：基准—机制—边界验证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拟议计划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2028：母相基准、散射样例、初始数据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2029：显式散射、结构分解、主动选点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2030：独立验证、热电约束、成果归档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研究期限以2027正式申报要求为准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3" y="2258568"/>
            <a:ext cx="100584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3" y="2258568"/>
            <a:ext cx="100584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67543" y="2258568"/>
            <a:ext cx="100584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5" y="3264408"/>
            <a:ext cx="1554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基准与数据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27263" y="315468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4544" y="315468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21824" y="315468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5" y="4224528"/>
            <a:ext cx="1554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散射机制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27263" y="411480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24544" y="411480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21824" y="411480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5" y="5184648"/>
            <a:ext cx="1554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验证与归档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27263" y="50749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24544" y="50749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21824" y="50749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3" y="5824728"/>
            <a:ext cx="48463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时间安排为拟议计划，非实际进度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预期成果：机制证据、条件与可复核数据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预期成果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局域畸变—散射—PF作用路径及反例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1—2个待实验检验组分或不可行性说明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可复核输入输出、数据及模型验证记录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计划论文1—2篇、研究生培养1—2名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455664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55664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5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机制证据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257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198863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98863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34856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候选 / 反例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25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455664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55664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91655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数据流程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57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198863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98863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34856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论文 / 培养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研究贡献：以AI辅助证据，解释散射机制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总结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一个对象：Ca/Ge取代SmMg</a:t>
            </a:r>
            <a:r>
              <a:rPr>
                <a:latin typeface="Cambria"/>
                <a:ea typeface="Microsoft YaHei"/>
              </a:rPr>
              <a:t>₂</a:t>
            </a:r>
            <a:r>
              <a:rPr>
                <a:ea typeface="Microsoft YaHei"/>
              </a:rPr>
              <a:t>Bi</a:t>
            </a:r>
            <a:r>
              <a:rPr>
                <a:latin typeface="Cambria"/>
                <a:ea typeface="Microsoft YaHei"/>
              </a:rPr>
              <a:t>₂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一条主线：局域畸变→散射→功率因子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一种AI作用：以不确定性选择关键证据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一个目标：形成可检验的作用路径与条件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2944368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090672"/>
            <a:ext cx="129844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局域畸变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944368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090672"/>
            <a:ext cx="129844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载流子散射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57232" y="2944368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3090672"/>
            <a:ext cx="1298448" cy="7132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PF条件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18704" y="3383280"/>
            <a:ext cx="128016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964868" y="3383280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964868" y="3333096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01784" y="3383280"/>
            <a:ext cx="118871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738803" y="3383280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738803" y="3333096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07223" y="4818888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44383" y="4965192"/>
            <a:ext cx="2286000" cy="5303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AI辅助获得关键证据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741663" y="4087369"/>
            <a:ext cx="0" cy="594359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41663" y="4087368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691479" y="4087368"/>
            <a:ext cx="50184" cy="81852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备查：省基金与本申请的任务边界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提交前核实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省基金：ZR2024QA209，2025—2027年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8万元，申请人主持；实际状态须更新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对照任务书列明已资助与新增内容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说明成果衔接、经费及工作量边界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25856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40487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已有项目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94192" y="257860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69540" y="257860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769540" y="252842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15984" y="225856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240487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省基金任务书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321868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336499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已完成工作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94192" y="353872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769540" y="35387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769540" y="34885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15984" y="321868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336499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成果与输入输出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417880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3" y="432511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本申请新增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94192" y="449884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769540" y="449884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69540" y="444866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15984" y="417880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32511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机制问题与任务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35624" y="513892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3" y="528523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经费 / 工作量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94192" y="545896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69540" y="545896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8769540" y="540878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15984" y="513892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528523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逐项核对边界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原申请书PDF第28页简历所列；以申请时真实状态更新。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备查：核心材料与方法文献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参考依据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材料：Ramirez 2015；Saparamadu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2020；Huo 2022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AI：康鹏等2026；Sheng等2020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电输运：Madsen 2018；Ganose 2021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声子：Li等2014；完整条目见修订稿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455664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55664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5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材料文献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304288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25712" y="2505456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198863" y="266090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98863" y="2798064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34856" y="3209544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25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455664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55664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91655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显式散射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4242816"/>
            <a:ext cx="2340864" cy="1481328"/>
          </a:xfrm>
          <a:prstGeom prst="roundRect">
            <a:avLst>
              <a:gd name="adj" fmla="val 7407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5712" y="4443984"/>
            <a:ext cx="347472" cy="457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008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198863" y="459943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98863" y="4736592"/>
            <a:ext cx="201167" cy="0"/>
          </a:xfrm>
          <a:prstGeom prst="line">
            <a:avLst/>
          </a:prstGeom>
          <a:ln w="1270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34856" y="5148072"/>
            <a:ext cx="2020824" cy="40233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热输运方法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7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14400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NSFC 2027  /  青年科学基金项目（C类）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10896"/>
            <a:ext cx="868680" cy="26517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28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35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备查：评审关切与本次回应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72768"/>
            <a:ext cx="978408" cy="32004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36776"/>
            <a:ext cx="438912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回应矩阵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31136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对象依据→已有Ca/Ge实验＋明确主线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26664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方法可信→显式散射＋关键耦合复核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86783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04487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AI可行→小样本基线＋分组验证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64608"/>
            <a:ext cx="100584" cy="100584"/>
          </a:xfrm>
          <a:prstGeom prst="ellipse">
            <a:avLst/>
          </a:prstGeom>
          <a:solidFill>
            <a:srgbClr val="008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4572000" cy="731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94356"/>
                </a:solidFill>
                <a:latin typeface="Microsoft YaHei"/>
              </a:defRPr>
            </a:pPr>
            <a:r>
              <a:rPr>
                <a:ea typeface="Microsoft YaHei"/>
              </a:rPr>
              <a:t>工作量风险→代表构型＋替代路线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993392"/>
            <a:ext cx="5559552" cy="4169663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225856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240487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对象依据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94192" y="257860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69540" y="257860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769540" y="252842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15984" y="225856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240487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Ca/Ge文献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321868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336499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电导率可信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94192" y="353872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769540" y="353872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769540" y="348854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15984" y="321868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336499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显式散射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417880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3" y="432511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AI可行性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94192" y="449884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769540" y="449884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69540" y="444866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15984" y="417880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32511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分组 / 基线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35624" y="5138928"/>
            <a:ext cx="2057400" cy="64008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3" y="5285232"/>
            <a:ext cx="178308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14A"/>
                </a:solidFill>
                <a:latin typeface="Microsoft YaHei"/>
              </a:defRPr>
            </a:pPr>
            <a:r>
              <a:rPr>
                <a:ea typeface="Microsoft YaHei"/>
              </a:rPr>
              <a:t>工作量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94192" y="5458968"/>
            <a:ext cx="457200" cy="0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69540" y="5458968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8769540" y="5408784"/>
            <a:ext cx="81852" cy="50184"/>
          </a:xfrm>
          <a:prstGeom prst="line">
            <a:avLst/>
          </a:prstGeom>
          <a:ln w="19050">
            <a:solidFill>
              <a:srgbClr val="008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15984" y="5138928"/>
            <a:ext cx="2331720" cy="640080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5285232"/>
            <a:ext cx="2057400" cy="438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786"/>
                </a:solidFill>
                <a:latin typeface="Microsoft YaHei"/>
              </a:defRPr>
            </a:pPr>
            <a:r>
              <a:rPr>
                <a:ea typeface="Microsoft YaHei"/>
              </a:rPr>
              <a:t>分层与退路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91656"/>
            <a:ext cx="10826496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4088" y="6492240"/>
            <a:ext cx="1065276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718393"/>
                </a:solidFill>
                <a:latin typeface="Microsoft YaHei"/>
              </a:defRPr>
            </a:pPr>
            <a:r>
              <a:rPr>
                <a:ea typeface="Microsoft YaHei"/>
              </a:rPr>
              <a:t>图为研究设计/概念示意，非已完成计算结果。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AI辅助的Ca/Ge双位点取代SmMg₂Bi₂局域畸变与载流子散射机制研究</dc:title>
  <dc:subject>2027青年基金项目论证汇报｜AI辅助商务版</dc:subject>
  <dc:creator>张菊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