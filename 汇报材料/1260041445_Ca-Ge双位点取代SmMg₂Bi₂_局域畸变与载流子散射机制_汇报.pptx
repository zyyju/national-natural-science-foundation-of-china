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汇报针对2027年度青年科学基金申报，依据原申请书、同行评议意见及机器学习综述修订。题目建议聚焦双位点交互机制，文件名保留原项目名。所有研究任务、样本规模和验收阈值为拟议设计，尚未开展的新计算不作为结果展示；不承诺资助或性能提升。</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终按青年基金小切口收敛为Ca/Ge取代SmMg2Bi2的局域畸变与载流子散射。第一问是化学取代和几何弛豫如何改变带边态及散射，第二问是这种散射变化在何种缺陷和载流子条件下改变迁移率与功率因子。热输运只作有限辅助验证。</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T为材料无量纲性能指标，不能单独决定器件效率。增大载流子浓度可能提高电导率，也会改变塞贝克系数和电子热导。无序可能降低晶格热导，却损害迁移率。研究价值在于定位可以获得净收益的结构和组分条件，而非宣称完全解耦。</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已有SmMg2Bi2合成及合金化研究提供实验起点，Huo等Ca合金化与Ge掺杂工作为双位点研究提供切入。本项目不再把CaMg2Bi2作为独立验证任务，限制为SmMg2Bi2内部构型和缺陷条件对照。须返回原始实验文献核对Mg过量、Bi缺位和输运条件，不能把理想化学计量模型和实验样品直接等同。</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项缺口是单取代和双取代在统一条件下是否存在交互；第二项是带边收益是否经得起真实散射；第三项是数据关联能否通过可控扰动和独立构型验证。机器学习综述可支持方法选择，但其他材料中的预测精度不能用作本体系的已证实可行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假设在一定组分与构型范围内，局域键长和力常数的非均匀性可增强热阻，同时保留有利带边色散。扰动过强时可能形成不利电子局域态、结构失稳或更强散射。这里的区间是待研究对象，不是已经获得的数值相图，也不保证一定存在优势候选。</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始40至60个构型只开展结构与电子信息计算，不给每个构型都做完整输运。显式电输运聚焦母相和3至5个代表构型；声子输运仅为母相与3个代表性取代构型的辅助检验。两个集合可重叠，通过层次化精度控制工作量。候选数量不是承诺性能提升。</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组分别是母相、Ca单取代、Ge单取代和Ca/Ge双取代。交互项为双取代性质减去两项单取代再加母相，表征选定参照下的非加和响应。其正负不能直接解释为性能好坏，例如晶格热导率与功率因子的有利方向不同。应补近邻和远离构型，避免单一排列偏差。</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的4f电子、磁态和SOC可能改变能带顺序。先进行合理电子态、磁态及收敛比较；U值依据物理约束确定，不以提高预测ZT调参。PBE用于总能和结构优化，TB-mBJ只用于电子态交叉检验，不能替代关联处理；关键排序敏感时少量HSE06复核。相稳定性要结合竞争相与缺陷补偿。</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固定母相几何与充分弛豫结构的对照用于区分化学取代与几何贡献；只变质量与只变力常数的对照用于声子机制分解。这类反事实构型是分析工具，不代表可以合成。各项分解仍依赖参照选择，不应宣称严格唯一的因果拆分，应通过多个排列与电子态验证稳健性。</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ltzTraP2初筛给出相应近似下的S和σ/τ，不能凭任意τ给出可信绝对电导率。代表构型采用显式散射，AMSET仅在有效质量与微扰近似适用时使用，考虑声学、离化杂质和适用时的极性光学散射。关键构型还需核查谷间与合金散射，必要时做更直接的电子声子矩阵元计算。固定载流子对照之后，还要考虑实际缺陷补偿。</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用二阶三阶力常数和声子BTE分析群速度、寿命及非谐散射，检验超胞和q网格收敛。随机无序需要额外对照，与周期结构的作用边界要清楚。虚频先排查数值与稳定性；强非谐导致近似失效时采用有限温度交叉检验。本项目不训练新的机器学习势，少量辅助热输运采用直接DFT，复杂情形只开展必要交叉检验。</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采用高斯过程回归为基线，与随机森林比较。输入特征按计算层级区分，昂贵电子态特征不能伪装成无需计算即可获得。按组分或构型家族分组，同一构型不同温度和浓度点不能分到训练和测试两边。以独立测试与不确定性校准决定可用性，不用相关性直接证明机制。最多三轮选点，没有收益时回到覆盖采样。</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术路线先做文献与母相基准，再建立四组对照。高成本输运只针对有信息量的代表构型，主动学习补充能区分解释的点。最后把结构分解、显式散射和声子结果汇合，形成同一主体系内部的散射机制结论。失败构型和不一致结果均纳入记录，不只报告最有利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创新凝练为两条：其一是化学取代与几何弛豫分解，识别局域畸变影响载流子散射的路径；其二是以显式散射和缺陷条件评价能带调控收益能否保留。主动学习仅是辅助选点工具。DFT、TB-mBJ或AI的使用本身不构成充分创新。</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申请人三项直接相关成果分别涉及NbCoSb空位和Ni取代、Bi2Se3中的Sb-Br共掺以及ZrNiSn中的Hf-Sb共掺。汇报保留成果内容与方法衔接，不展示未经核验的引用次数或影响因子。原材料中SmMg2Bi2初算需补原始输入与对照数据，不能把其他体系理论结果当成本体系已证实机制。</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理论基础是DFT和电声输运链条；技术储备来自已发表的共掺研究；研究基础包括已声明的母相初算，但必须补收敛和4f处理记录；团队条件以实际可用64核与4TB存储安排，不把80节点全平台视为专属资源。对AMSET适用性、机时与授权等未验证能力先做样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电子态敏感时并列可信模型，稳定性不足时收缩可达组分，显式散射推翻初筛排序时报告失效阈值，模型泛化不足回到直接计算，强非谐超过BTE适用性时限定范围并作交叉检验。这里不把所有复杂替代方法都承诺为必做任务，选择依据是关键结论是否因此改变。</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年不能只做文献和力场预研，还需完成母相电子态基准、显式散射样例、初始数据和真实成本。第二年完成电声输运和交互分解。第三年完成独立构型、缺陷条件与少量热输运检验。拟议成果以数据、机制与边界为主，论文1至2篇和研究生1至2名是辅助产出，不替代科学目标。</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请评议本项目的科学问题是否集中、对照是否足以区分机制、显式散射与工作量是否匹配。这里不将采样规模、候选组分数量和理论预测当作已完成结果。省基金任务边界、原始实验文献和计算授权机时等须在正式提交前核实。</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完整PDF的简历列出山东省基金ZR2024QA209，2025至2027年，8万元，申请人主持；原正文该栏却写无。不能直接声称没有相关项目，也不能凭题名认定重复资助。必须对照任务书列明已资助任务、成果、本申请新增科学问题与经费边界。该内容属于提交前需要核实的信息，不是已完成合规结论。</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已修正空间群和元素分族，删除明显错配引文，重写研究目标与风险路线。尚待核实的是Huo等原始论文与非化学计量条件、母相初算和散射样例、省基金任务差异、可用机时授权以及2027正式指南。没有这些资料时不把稿件称为可直接提交终稿。</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材料文献来自原申请书题录，主动学习与迁移学习文献来自康鹏等综述。新增方法文献用于说明软件与输运方法，不能替代目标体系适用性验证。当前未逐篇获得原始全文，Crossref元数据请求返回403，所以不宣称题录和定量结果均已独立核验。完整条目见修订稿。</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2027 NATIONAL NATURAL SCIENCE FOUNDATION OF CHINA</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Ca/Ge双位点取代SmMg</a:t>
            </a:r>
            <a:r>
              <a:rPr>
                <a:latin typeface="Cambria"/>
                <a:ea typeface="Microsoft YaHei"/>
              </a:rPr>
              <a:t>₂</a:t>
            </a:r>
            <a:r>
              <a:rPr>
                <a:ea typeface="Microsoft YaHei"/>
              </a:rPr>
              <a:t>Bi</a:t>
            </a:r>
            <a:r>
              <a:rPr>
                <a:latin typeface="Cambria"/>
                <a:ea typeface="Microsoft YaHei"/>
              </a:rPr>
              <a:t>₂</a:t>
            </a:r>
          </a:p>
        </p:txBody>
      </p:sp>
      <p:cxnSp>
        <p:nvCxnSpPr>
          <p:cNvPr id="5" name="Connector 4"/>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青年科学基金项目（C类）｜申报论证汇报·修订工作稿</a:t>
            </a:r>
          </a:p>
        </p:txBody>
      </p:sp>
      <p:sp>
        <p:nvSpPr>
          <p:cNvPr id="7" name="TextBox 6"/>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01</a:t>
            </a:r>
          </a:p>
        </p:txBody>
      </p:sp>
      <p:sp>
        <p:nvSpPr>
          <p:cNvPr id="8" name="TextBox 7"/>
          <p:cNvSpPr txBox="1"/>
          <p:nvPr/>
        </p:nvSpPr>
        <p:spPr>
          <a:xfrm>
            <a:off x="685800" y="1481328"/>
            <a:ext cx="7406640" cy="1554480"/>
          </a:xfrm>
          <a:prstGeom prst="rect">
            <a:avLst/>
          </a:prstGeom>
          <a:noFill/>
        </p:spPr>
        <p:txBody>
          <a:bodyPr wrap="none" lIns="0" rIns="0" tIns="0" bIns="0" anchor="t">
            <a:spAutoFit/>
          </a:bodyPr>
          <a:lstStyle/>
          <a:p>
            <a:pPr>
              <a:lnSpc>
                <a:spcPct val="122000"/>
              </a:lnSpc>
              <a:spcBef>
                <a:spcPts val="0"/>
              </a:spcBef>
              <a:spcAft>
                <a:spcPts val="0"/>
              </a:spcAft>
              <a:defRPr sz="3500" b="1">
                <a:solidFill>
                  <a:srgbClr val="122B3A"/>
                </a:solidFill>
                <a:latin typeface="Microsoft YaHei"/>
              </a:defRPr>
            </a:pPr>
            <a:r>
              <a:rPr>
                <a:ea typeface="Microsoft YaHei"/>
              </a:rPr>
              <a:t>局域畸变与</a:t>
            </a:r>
          </a:p>
          <a:p>
            <a:pPr>
              <a:lnSpc>
                <a:spcPct val="122000"/>
              </a:lnSpc>
              <a:spcBef>
                <a:spcPts val="0"/>
              </a:spcBef>
              <a:spcAft>
                <a:spcPts val="0"/>
              </a:spcAft>
              <a:defRPr sz="3500" b="1">
                <a:solidFill>
                  <a:srgbClr val="122B3A"/>
                </a:solidFill>
                <a:latin typeface="Microsoft YaHei"/>
              </a:defRPr>
            </a:pPr>
            <a:r>
              <a:rPr>
                <a:ea typeface="Microsoft YaHei"/>
              </a:rPr>
              <a:t>载流子散射机制</a:t>
            </a:r>
          </a:p>
        </p:txBody>
      </p:sp>
      <p:sp>
        <p:nvSpPr>
          <p:cNvPr id="9" name="TextBox 8"/>
          <p:cNvSpPr txBox="1"/>
          <p:nvPr/>
        </p:nvSpPr>
        <p:spPr>
          <a:xfrm>
            <a:off x="713232" y="3218688"/>
            <a:ext cx="6949440" cy="576072"/>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17F80"/>
                </a:solidFill>
                <a:latin typeface="Microsoft YaHei"/>
              </a:defRPr>
            </a:pPr>
            <a:r>
              <a:rPr>
                <a:ea typeface="Microsoft YaHei"/>
              </a:rPr>
              <a:t>聚焦局域结构变化如何影响载流子散射</a:t>
            </a:r>
          </a:p>
        </p:txBody>
      </p:sp>
      <p:sp>
        <p:nvSpPr>
          <p:cNvPr id="10" name="TextBox 9"/>
          <p:cNvSpPr txBox="1"/>
          <p:nvPr/>
        </p:nvSpPr>
        <p:spPr>
          <a:xfrm>
            <a:off x="731520" y="4270248"/>
            <a:ext cx="6949440" cy="1188720"/>
          </a:xfrm>
          <a:prstGeom prst="rect">
            <a:avLst/>
          </a:prstGeom>
          <a:noFill/>
        </p:spPr>
        <p:txBody>
          <a:bodyPr wrap="none" lIns="0" rIns="0" tIns="0" bIns="0" anchor="t">
            <a:spAutoFit/>
          </a:bodyPr>
          <a:lstStyle/>
          <a:p>
            <a:pPr>
              <a:lnSpc>
                <a:spcPct val="122000"/>
              </a:lnSpc>
              <a:spcBef>
                <a:spcPts val="0"/>
              </a:spcBef>
              <a:spcAft>
                <a:spcPts val="0"/>
              </a:spcAft>
              <a:defRPr sz="1800" b="0">
                <a:solidFill>
                  <a:srgbClr val="647783"/>
                </a:solidFill>
                <a:latin typeface="Microsoft YaHei"/>
              </a:defRPr>
            </a:pPr>
            <a:r>
              <a:rPr>
                <a:ea typeface="Microsoft YaHei"/>
              </a:rPr>
              <a:t>汇报人：张菊</a:t>
            </a:r>
          </a:p>
          <a:p>
            <a:pPr>
              <a:lnSpc>
                <a:spcPct val="122000"/>
              </a:lnSpc>
              <a:spcBef>
                <a:spcPts val="0"/>
              </a:spcBef>
              <a:spcAft>
                <a:spcPts val="0"/>
              </a:spcAft>
              <a:defRPr sz="1800" b="0">
                <a:solidFill>
                  <a:srgbClr val="647783"/>
                </a:solidFill>
                <a:latin typeface="Microsoft YaHei"/>
              </a:defRPr>
            </a:pPr>
            <a:r>
              <a:rPr>
                <a:ea typeface="Microsoft YaHei"/>
              </a:rPr>
              <a:t>依托单位：青岛滨海学院</a:t>
            </a:r>
          </a:p>
          <a:p>
            <a:pPr>
              <a:lnSpc>
                <a:spcPct val="122000"/>
              </a:lnSpc>
              <a:spcBef>
                <a:spcPts val="0"/>
              </a:spcBef>
              <a:spcAft>
                <a:spcPts val="0"/>
              </a:spcAft>
              <a:defRPr sz="1800" b="0">
                <a:solidFill>
                  <a:srgbClr val="647783"/>
                </a:solidFill>
                <a:latin typeface="Microsoft YaHei"/>
              </a:defRPr>
            </a:pPr>
            <a:r>
              <a:rPr>
                <a:ea typeface="Microsoft YaHei"/>
              </a:rPr>
              <a:t>研究方向：凝聚态物质输运性质</a:t>
            </a:r>
          </a:p>
        </p:txBody>
      </p:sp>
      <p:sp>
        <p:nvSpPr>
          <p:cNvPr id="11" name="Rounded Rectangle 10"/>
          <p:cNvSpPr/>
          <p:nvPr/>
        </p:nvSpPr>
        <p:spPr>
          <a:xfrm>
            <a:off x="8229600" y="1554480"/>
            <a:ext cx="3246120" cy="4389120"/>
          </a:xfrm>
          <a:prstGeom prst="roundRect">
            <a:avLst>
              <a:gd name="adj" fmla="val 10000"/>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41080" y="2011680"/>
            <a:ext cx="237744" cy="237744"/>
          </a:xfrm>
          <a:prstGeom prst="ellipse">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8869680" y="2130552"/>
            <a:ext cx="347472" cy="0"/>
          </a:xfrm>
          <a:prstGeom prst="line">
            <a:avLst/>
          </a:prstGeom>
          <a:ln w="16510">
            <a:solidFill>
              <a:srgbClr val="117F80"/>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226296" y="2011680"/>
            <a:ext cx="237744" cy="237744"/>
          </a:xfrm>
          <a:prstGeom prst="ellipse">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9454896" y="2130552"/>
            <a:ext cx="347472" cy="0"/>
          </a:xfrm>
          <a:prstGeom prst="line">
            <a:avLst/>
          </a:prstGeom>
          <a:ln w="16510">
            <a:solidFill>
              <a:srgbClr val="117F8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9811511" y="2011680"/>
            <a:ext cx="237744" cy="237744"/>
          </a:xfrm>
          <a:prstGeom prst="ellipse">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0040111" y="2130552"/>
            <a:ext cx="347473" cy="0"/>
          </a:xfrm>
          <a:prstGeom prst="line">
            <a:avLst/>
          </a:prstGeom>
          <a:ln w="16510">
            <a:solidFill>
              <a:srgbClr val="117F8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0396728" y="2011680"/>
            <a:ext cx="237744" cy="237744"/>
          </a:xfrm>
          <a:prstGeom prst="ellipse">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86216" y="2404872"/>
            <a:ext cx="2560320" cy="438912"/>
          </a:xfrm>
          <a:prstGeom prst="rect">
            <a:avLst/>
          </a:prstGeom>
          <a:noFill/>
        </p:spPr>
        <p:txBody>
          <a:bodyPr wrap="none" lIns="0" rIns="0" tIns="0" bIns="0" anchor="t">
            <a:spAutoFit/>
          </a:bodyPr>
          <a:lstStyle/>
          <a:p>
            <a:pPr>
              <a:lnSpc>
                <a:spcPct val="122000"/>
              </a:lnSpc>
              <a:spcBef>
                <a:spcPts val="0"/>
              </a:spcBef>
              <a:spcAft>
                <a:spcPts val="0"/>
              </a:spcAft>
              <a:defRPr sz="1600" b="1">
                <a:solidFill>
                  <a:srgbClr val="117F80"/>
                </a:solidFill>
                <a:latin typeface="Microsoft YaHei"/>
              </a:defRPr>
            </a:pPr>
            <a:r>
              <a:rPr>
                <a:ea typeface="Microsoft YaHei"/>
              </a:rPr>
              <a:t>阳离子位  Sm / Ca</a:t>
            </a:r>
          </a:p>
        </p:txBody>
      </p:sp>
      <p:sp>
        <p:nvSpPr>
          <p:cNvPr id="20" name="Oval 19"/>
          <p:cNvSpPr/>
          <p:nvPr/>
        </p:nvSpPr>
        <p:spPr>
          <a:xfrm>
            <a:off x="8641080" y="3200400"/>
            <a:ext cx="237744" cy="237744"/>
          </a:xfrm>
          <a:prstGeom prst="ellipse">
            <a:avLst/>
          </a:prstGeom>
          <a:solidFill>
            <a:srgbClr val="C57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8869680" y="3319272"/>
            <a:ext cx="347472" cy="0"/>
          </a:xfrm>
          <a:prstGeom prst="line">
            <a:avLst/>
          </a:prstGeom>
          <a:ln w="16510">
            <a:solidFill>
              <a:srgbClr val="C57B46"/>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226296" y="3200400"/>
            <a:ext cx="237744" cy="237744"/>
          </a:xfrm>
          <a:prstGeom prst="ellipse">
            <a:avLst/>
          </a:prstGeom>
          <a:solidFill>
            <a:srgbClr val="C57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454896" y="3319272"/>
            <a:ext cx="347472" cy="0"/>
          </a:xfrm>
          <a:prstGeom prst="line">
            <a:avLst/>
          </a:prstGeom>
          <a:ln w="16510">
            <a:solidFill>
              <a:srgbClr val="C57B46"/>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9811511" y="3200400"/>
            <a:ext cx="237744" cy="237744"/>
          </a:xfrm>
          <a:prstGeom prst="ellipse">
            <a:avLst/>
          </a:prstGeom>
          <a:solidFill>
            <a:srgbClr val="C57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10040111" y="3319272"/>
            <a:ext cx="347473" cy="0"/>
          </a:xfrm>
          <a:prstGeom prst="line">
            <a:avLst/>
          </a:prstGeom>
          <a:ln w="16510">
            <a:solidFill>
              <a:srgbClr val="C57B46"/>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10396728" y="3200400"/>
            <a:ext cx="237744" cy="237744"/>
          </a:xfrm>
          <a:prstGeom prst="ellipse">
            <a:avLst/>
          </a:prstGeom>
          <a:solidFill>
            <a:srgbClr val="C57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86216" y="3593592"/>
            <a:ext cx="2560320" cy="438912"/>
          </a:xfrm>
          <a:prstGeom prst="rect">
            <a:avLst/>
          </a:prstGeom>
          <a:noFill/>
        </p:spPr>
        <p:txBody>
          <a:bodyPr wrap="none" lIns="0" rIns="0" tIns="0" bIns="0" anchor="t">
            <a:spAutoFit/>
          </a:bodyPr>
          <a:lstStyle/>
          <a:p>
            <a:pPr>
              <a:lnSpc>
                <a:spcPct val="122000"/>
              </a:lnSpc>
              <a:spcBef>
                <a:spcPts val="0"/>
              </a:spcBef>
              <a:spcAft>
                <a:spcPts val="0"/>
              </a:spcAft>
              <a:defRPr sz="1600" b="1">
                <a:solidFill>
                  <a:srgbClr val="C57B46"/>
                </a:solidFill>
                <a:latin typeface="Microsoft YaHei"/>
              </a:defRPr>
            </a:pPr>
            <a:r>
              <a:rPr>
                <a:ea typeface="Microsoft YaHei"/>
              </a:rPr>
              <a:t>阴离子位  Bi / Ge</a:t>
            </a:r>
          </a:p>
        </p:txBody>
      </p:sp>
      <p:sp>
        <p:nvSpPr>
          <p:cNvPr id="28" name="Oval 27"/>
          <p:cNvSpPr/>
          <p:nvPr/>
        </p:nvSpPr>
        <p:spPr>
          <a:xfrm>
            <a:off x="8641080" y="4389120"/>
            <a:ext cx="237744" cy="237744"/>
          </a:xfrm>
          <a:prstGeom prst="ellipse">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8869680" y="4507992"/>
            <a:ext cx="347472" cy="0"/>
          </a:xfrm>
          <a:prstGeom prst="line">
            <a:avLst/>
          </a:prstGeom>
          <a:ln w="16510">
            <a:solidFill>
              <a:srgbClr val="122B3A"/>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9226296" y="4389120"/>
            <a:ext cx="237744" cy="237744"/>
          </a:xfrm>
          <a:prstGeom prst="ellipse">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9454896" y="4507992"/>
            <a:ext cx="347472" cy="0"/>
          </a:xfrm>
          <a:prstGeom prst="line">
            <a:avLst/>
          </a:prstGeom>
          <a:ln w="16510">
            <a:solidFill>
              <a:srgbClr val="122B3A"/>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9811511" y="4389120"/>
            <a:ext cx="237744" cy="237744"/>
          </a:xfrm>
          <a:prstGeom prst="ellipse">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10040111" y="4507992"/>
            <a:ext cx="347473" cy="0"/>
          </a:xfrm>
          <a:prstGeom prst="line">
            <a:avLst/>
          </a:prstGeom>
          <a:ln w="16510">
            <a:solidFill>
              <a:srgbClr val="122B3A"/>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0396728" y="4389120"/>
            <a:ext cx="237744" cy="237744"/>
          </a:xfrm>
          <a:prstGeom prst="ellipse">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86216" y="4782312"/>
            <a:ext cx="2560320" cy="438912"/>
          </a:xfrm>
          <a:prstGeom prst="rect">
            <a:avLst/>
          </a:prstGeom>
          <a:noFill/>
        </p:spPr>
        <p:txBody>
          <a:bodyPr wrap="none" lIns="0" rIns="0" tIns="0" bIns="0" anchor="t">
            <a:spAutoFit/>
          </a:bodyPr>
          <a:lstStyle/>
          <a:p>
            <a:pPr>
              <a:lnSpc>
                <a:spcPct val="122000"/>
              </a:lnSpc>
              <a:spcBef>
                <a:spcPts val="0"/>
              </a:spcBef>
              <a:spcAft>
                <a:spcPts val="0"/>
              </a:spcAft>
              <a:defRPr sz="1600" b="1">
                <a:solidFill>
                  <a:srgbClr val="122B3A"/>
                </a:solidFill>
                <a:latin typeface="Microsoft YaHei"/>
              </a:defRPr>
            </a:pPr>
            <a:r>
              <a:rPr>
                <a:ea typeface="Microsoft YaHei"/>
              </a:rPr>
              <a:t>畸变 · 带边 · 散射</a:t>
            </a:r>
          </a:p>
        </p:txBody>
      </p:sp>
      <p:sp>
        <p:nvSpPr>
          <p:cNvPr id="36" name="TextBox 35"/>
          <p:cNvSpPr txBox="1"/>
          <p:nvPr/>
        </p:nvSpPr>
        <p:spPr>
          <a:xfrm>
            <a:off x="8458200" y="5623560"/>
            <a:ext cx="2834640" cy="24688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层次关系概念示意，非晶体结构图</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汇报主线</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一条主线，回答两个相互衔接的机制问题</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Ca/Ge取代为实验起点，机器学习服务于机制判别。</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02</a:t>
            </a:r>
          </a:p>
        </p:txBody>
      </p:sp>
      <p:sp>
        <p:nvSpPr>
          <p:cNvPr id="9" name="Rounded Rectangle 8"/>
          <p:cNvSpPr/>
          <p:nvPr/>
        </p:nvSpPr>
        <p:spPr>
          <a:xfrm>
            <a:off x="685800" y="1938528"/>
            <a:ext cx="5257800" cy="331012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938528"/>
            <a:ext cx="41148" cy="3310128"/>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2112264"/>
            <a:ext cx="4864608"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问题一｜局域畸变</a:t>
            </a:r>
          </a:p>
        </p:txBody>
      </p:sp>
      <p:sp>
        <p:nvSpPr>
          <p:cNvPr id="12" name="TextBox 11"/>
          <p:cNvSpPr txBox="1"/>
          <p:nvPr/>
        </p:nvSpPr>
        <p:spPr>
          <a:xfrm>
            <a:off x="886968" y="2798064"/>
            <a:ext cx="4855464" cy="2340864"/>
          </a:xfrm>
          <a:prstGeom prst="rect">
            <a:avLst/>
          </a:prstGeom>
          <a:noFill/>
        </p:spPr>
        <p:txBody>
          <a:bodyPr wrap="none" lIns="0" rIns="0" tIns="0" bIns="0" anchor="t">
            <a:spAutoFit/>
          </a:bodyPr>
          <a:lstStyle/>
          <a:p>
            <a:pPr>
              <a:lnSpc>
                <a:spcPct val="122000"/>
              </a:lnSpc>
              <a:spcBef>
                <a:spcPts val="0"/>
              </a:spcBef>
              <a:spcAft>
                <a:spcPts val="0"/>
              </a:spcAft>
              <a:defRPr sz="2100" b="0">
                <a:solidFill>
                  <a:srgbClr val="203946"/>
                </a:solidFill>
                <a:latin typeface="Microsoft YaHei"/>
              </a:defRPr>
            </a:pPr>
            <a:r>
              <a:rPr>
                <a:ea typeface="Microsoft YaHei"/>
              </a:rPr>
              <a:t>化学取代与几何弛豫</a:t>
            </a:r>
          </a:p>
          <a:p>
            <a:pPr>
              <a:lnSpc>
                <a:spcPct val="122000"/>
              </a:lnSpc>
              <a:spcBef>
                <a:spcPts val="0"/>
              </a:spcBef>
              <a:spcAft>
                <a:spcPts val="0"/>
              </a:spcAft>
              <a:defRPr sz="2100" b="0">
                <a:solidFill>
                  <a:srgbClr val="203946"/>
                </a:solidFill>
                <a:latin typeface="Microsoft YaHei"/>
              </a:defRPr>
            </a:pPr>
            <a:r>
              <a:rPr>
                <a:ea typeface="Microsoft YaHei"/>
              </a:rPr>
              <a:t>如何改变带边轨道？</a:t>
            </a:r>
          </a:p>
          <a:p>
            <a:pPr>
              <a:lnSpc>
                <a:spcPct val="122000"/>
              </a:lnSpc>
              <a:spcBef>
                <a:spcPts val="0"/>
              </a:spcBef>
              <a:spcAft>
                <a:spcPts val="0"/>
              </a:spcAft>
              <a:defRPr sz="2100" b="0">
                <a:solidFill>
                  <a:srgbClr val="203946"/>
                </a:solidFill>
                <a:latin typeface="Microsoft YaHei"/>
              </a:defRPr>
            </a:pPr>
          </a:p>
          <a:p>
            <a:pPr>
              <a:lnSpc>
                <a:spcPct val="122000"/>
              </a:lnSpc>
              <a:spcBef>
                <a:spcPts val="0"/>
              </a:spcBef>
              <a:spcAft>
                <a:spcPts val="0"/>
              </a:spcAft>
              <a:defRPr sz="2100" b="0">
                <a:solidFill>
                  <a:srgbClr val="203946"/>
                </a:solidFill>
                <a:latin typeface="Microsoft YaHei"/>
              </a:defRPr>
            </a:pPr>
            <a:r>
              <a:rPr>
                <a:ea typeface="Microsoft YaHei"/>
              </a:rPr>
              <a:t>局域畸变怎样改变</a:t>
            </a:r>
          </a:p>
          <a:p>
            <a:pPr>
              <a:lnSpc>
                <a:spcPct val="122000"/>
              </a:lnSpc>
              <a:spcBef>
                <a:spcPts val="0"/>
              </a:spcBef>
              <a:spcAft>
                <a:spcPts val="0"/>
              </a:spcAft>
              <a:defRPr sz="2100" b="0">
                <a:solidFill>
                  <a:srgbClr val="203946"/>
                </a:solidFill>
                <a:latin typeface="Microsoft YaHei"/>
              </a:defRPr>
            </a:pPr>
            <a:r>
              <a:rPr>
                <a:ea typeface="Microsoft YaHei"/>
              </a:rPr>
              <a:t>载流子散射通道？</a:t>
            </a:r>
          </a:p>
        </p:txBody>
      </p:sp>
      <p:sp>
        <p:nvSpPr>
          <p:cNvPr id="13" name="Rounded Rectangle 12"/>
          <p:cNvSpPr/>
          <p:nvPr/>
        </p:nvSpPr>
        <p:spPr>
          <a:xfrm>
            <a:off x="6144768" y="1938528"/>
            <a:ext cx="5358384" cy="331012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44768" y="1938528"/>
            <a:ext cx="41148" cy="3310128"/>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5936" y="2112264"/>
            <a:ext cx="4965192"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问题二｜载流子散射</a:t>
            </a:r>
          </a:p>
        </p:txBody>
      </p:sp>
      <p:sp>
        <p:nvSpPr>
          <p:cNvPr id="16" name="TextBox 15"/>
          <p:cNvSpPr txBox="1"/>
          <p:nvPr/>
        </p:nvSpPr>
        <p:spPr>
          <a:xfrm>
            <a:off x="6345936" y="2798064"/>
            <a:ext cx="4956048" cy="2340864"/>
          </a:xfrm>
          <a:prstGeom prst="rect">
            <a:avLst/>
          </a:prstGeom>
          <a:noFill/>
        </p:spPr>
        <p:txBody>
          <a:bodyPr wrap="none" lIns="0" rIns="0" tIns="0" bIns="0" anchor="t">
            <a:spAutoFit/>
          </a:bodyPr>
          <a:lstStyle/>
          <a:p>
            <a:pPr>
              <a:lnSpc>
                <a:spcPct val="122000"/>
              </a:lnSpc>
              <a:spcBef>
                <a:spcPts val="0"/>
              </a:spcBef>
              <a:spcAft>
                <a:spcPts val="0"/>
              </a:spcAft>
              <a:defRPr sz="2100" b="0">
                <a:solidFill>
                  <a:srgbClr val="203946"/>
                </a:solidFill>
                <a:latin typeface="Microsoft YaHei"/>
              </a:defRPr>
            </a:pPr>
            <a:r>
              <a:rPr>
                <a:ea typeface="Microsoft YaHei"/>
              </a:rPr>
              <a:t>带边调控的潜在收益</a:t>
            </a:r>
          </a:p>
          <a:p>
            <a:pPr>
              <a:lnSpc>
                <a:spcPct val="122000"/>
              </a:lnSpc>
              <a:spcBef>
                <a:spcPts val="0"/>
              </a:spcBef>
              <a:spcAft>
                <a:spcPts val="0"/>
              </a:spcAft>
              <a:defRPr sz="2100" b="0">
                <a:solidFill>
                  <a:srgbClr val="203946"/>
                </a:solidFill>
                <a:latin typeface="Microsoft YaHei"/>
              </a:defRPr>
            </a:pPr>
            <a:r>
              <a:rPr>
                <a:ea typeface="Microsoft YaHei"/>
              </a:rPr>
              <a:t>何时被散射损失抵消？</a:t>
            </a:r>
          </a:p>
          <a:p>
            <a:pPr>
              <a:lnSpc>
                <a:spcPct val="122000"/>
              </a:lnSpc>
              <a:spcBef>
                <a:spcPts val="0"/>
              </a:spcBef>
              <a:spcAft>
                <a:spcPts val="0"/>
              </a:spcAft>
              <a:defRPr sz="2100" b="0">
                <a:solidFill>
                  <a:srgbClr val="203946"/>
                </a:solidFill>
                <a:latin typeface="Microsoft YaHei"/>
              </a:defRPr>
            </a:pPr>
          </a:p>
          <a:p>
            <a:pPr>
              <a:lnSpc>
                <a:spcPct val="122000"/>
              </a:lnSpc>
              <a:spcBef>
                <a:spcPts val="0"/>
              </a:spcBef>
              <a:spcAft>
                <a:spcPts val="0"/>
              </a:spcAft>
              <a:defRPr sz="2100" b="0">
                <a:solidFill>
                  <a:srgbClr val="203946"/>
                </a:solidFill>
                <a:latin typeface="Microsoft YaHei"/>
              </a:defRPr>
            </a:pPr>
            <a:r>
              <a:rPr>
                <a:ea typeface="Microsoft YaHei"/>
              </a:rPr>
              <a:t>局域排列与缺陷补偿</a:t>
            </a:r>
          </a:p>
          <a:p>
            <a:pPr>
              <a:lnSpc>
                <a:spcPct val="122000"/>
              </a:lnSpc>
              <a:spcBef>
                <a:spcPts val="0"/>
              </a:spcBef>
              <a:spcAft>
                <a:spcPts val="0"/>
              </a:spcAft>
              <a:defRPr sz="2100" b="0">
                <a:solidFill>
                  <a:srgbClr val="203946"/>
                </a:solidFill>
                <a:latin typeface="Microsoft YaHei"/>
              </a:defRPr>
            </a:pPr>
            <a:r>
              <a:rPr>
                <a:ea typeface="Microsoft YaHei"/>
              </a:rPr>
              <a:t>怎样改变迁移率和PF？</a:t>
            </a:r>
          </a:p>
        </p:txBody>
      </p:sp>
      <p:sp>
        <p:nvSpPr>
          <p:cNvPr id="17" name="Rounded Rectangle 16"/>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FFFFFF"/>
                </a:solidFill>
                <a:latin typeface="Microsoft YaHei"/>
              </a:defRPr>
            </a:pPr>
            <a:r>
              <a:rPr>
                <a:ea typeface="Microsoft YaHei"/>
              </a:rPr>
              <a:t>目标：解释“局域畸变—载流子散射—功率因子”的作用路径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01 立项依据</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问题背景：能带改善不一定带来功率因子提升</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优化对象是耦合输运过程，而不是独立的单个参数。</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ZT定义；材料与器件效率需区分。公式为定义，图示为概念关系。</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03</a:t>
            </a:r>
          </a:p>
        </p:txBody>
      </p:sp>
      <p:sp>
        <p:nvSpPr>
          <p:cNvPr id="9" name="Rounded Rectangle 8"/>
          <p:cNvSpPr/>
          <p:nvPr/>
        </p:nvSpPr>
        <p:spPr>
          <a:xfrm>
            <a:off x="694944" y="1920240"/>
            <a:ext cx="10808208" cy="94183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130552"/>
            <a:ext cx="10058400" cy="548640"/>
          </a:xfrm>
          <a:prstGeom prst="rect">
            <a:avLst/>
          </a:prstGeom>
          <a:noFill/>
        </p:spPr>
        <p:txBody>
          <a:bodyPr wrap="none" lIns="0" rIns="0" tIns="0" bIns="0" anchor="t">
            <a:spAutoFit/>
          </a:bodyPr>
          <a:lstStyle/>
          <a:p>
            <a:pPr>
              <a:lnSpc>
                <a:spcPct val="122000"/>
              </a:lnSpc>
              <a:spcBef>
                <a:spcPts val="0"/>
              </a:spcBef>
              <a:spcAft>
                <a:spcPts val="0"/>
              </a:spcAft>
              <a:defRPr sz="3000" b="1">
                <a:solidFill>
                  <a:srgbClr val="FFFFFF"/>
                </a:solidFill>
                <a:latin typeface="Microsoft YaHei"/>
              </a:defRPr>
            </a:pPr>
            <a:r>
              <a:rPr>
                <a:ea typeface="Microsoft YaHei"/>
              </a:rPr>
              <a:t>ZT = S²σT / (κ</a:t>
            </a:r>
            <a:r>
              <a:rPr>
                <a:latin typeface="Cambria"/>
                <a:ea typeface="Microsoft YaHei"/>
              </a:rPr>
              <a:t>ₑ</a:t>
            </a:r>
            <a:r>
              <a:rPr>
                <a:ea typeface="Microsoft YaHei"/>
              </a:rPr>
              <a:t> + κL)     ·     PF = S²σ</a:t>
            </a:r>
          </a:p>
        </p:txBody>
      </p:sp>
      <p:sp>
        <p:nvSpPr>
          <p:cNvPr id="11" name="Rounded Rectangle 10"/>
          <p:cNvSpPr/>
          <p:nvPr/>
        </p:nvSpPr>
        <p:spPr>
          <a:xfrm>
            <a:off x="694944" y="3182112"/>
            <a:ext cx="344728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94944" y="3182112"/>
            <a:ext cx="41148" cy="21488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355848"/>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带边重排</a:t>
            </a:r>
          </a:p>
        </p:txBody>
      </p:sp>
      <p:sp>
        <p:nvSpPr>
          <p:cNvPr id="14" name="TextBox 13"/>
          <p:cNvSpPr txBox="1"/>
          <p:nvPr/>
        </p:nvSpPr>
        <p:spPr>
          <a:xfrm>
            <a:off x="896112" y="4041648"/>
            <a:ext cx="3044952" cy="1179576"/>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能谷数量与色散改变</a:t>
            </a:r>
          </a:p>
          <a:p>
            <a:pPr>
              <a:lnSpc>
                <a:spcPct val="122000"/>
              </a:lnSpc>
              <a:spcBef>
                <a:spcPts val="0"/>
              </a:spcBef>
              <a:spcAft>
                <a:spcPts val="0"/>
              </a:spcAft>
              <a:defRPr sz="2000" b="0">
                <a:solidFill>
                  <a:srgbClr val="203946"/>
                </a:solidFill>
                <a:latin typeface="Microsoft YaHei"/>
              </a:defRPr>
            </a:pPr>
            <a:r>
              <a:rPr>
                <a:ea typeface="Microsoft YaHei"/>
              </a:rPr>
              <a:t>收益依赖实际散射</a:t>
            </a:r>
          </a:p>
        </p:txBody>
      </p:sp>
      <p:sp>
        <p:nvSpPr>
          <p:cNvPr id="15" name="Rounded Rectangle 14"/>
          <p:cNvSpPr/>
          <p:nvPr/>
        </p:nvSpPr>
        <p:spPr>
          <a:xfrm>
            <a:off x="4370832" y="3182112"/>
            <a:ext cx="344728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0832" y="3182112"/>
            <a:ext cx="41148" cy="21488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3355848"/>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局域结构扰动</a:t>
            </a:r>
          </a:p>
        </p:txBody>
      </p:sp>
      <p:sp>
        <p:nvSpPr>
          <p:cNvPr id="18" name="TextBox 17"/>
          <p:cNvSpPr txBox="1"/>
          <p:nvPr/>
        </p:nvSpPr>
        <p:spPr>
          <a:xfrm>
            <a:off x="4572000" y="4041648"/>
            <a:ext cx="3044952" cy="1179576"/>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非谐与无序改变</a:t>
            </a:r>
          </a:p>
          <a:p>
            <a:pPr>
              <a:lnSpc>
                <a:spcPct val="122000"/>
              </a:lnSpc>
              <a:spcBef>
                <a:spcPts val="0"/>
              </a:spcBef>
              <a:spcAft>
                <a:spcPts val="0"/>
              </a:spcAft>
              <a:defRPr sz="2000" b="0">
                <a:solidFill>
                  <a:srgbClr val="203946"/>
                </a:solidFill>
                <a:latin typeface="Microsoft YaHei"/>
              </a:defRPr>
            </a:pPr>
            <a:r>
              <a:rPr>
                <a:ea typeface="Microsoft YaHei"/>
              </a:rPr>
              <a:t>可能降低晶格热导</a:t>
            </a:r>
          </a:p>
        </p:txBody>
      </p:sp>
      <p:sp>
        <p:nvSpPr>
          <p:cNvPr id="19" name="Rounded Rectangle 18"/>
          <p:cNvSpPr/>
          <p:nvPr/>
        </p:nvSpPr>
        <p:spPr>
          <a:xfrm>
            <a:off x="8046720" y="3182112"/>
            <a:ext cx="344728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3182112"/>
            <a:ext cx="41148" cy="2148840"/>
          </a:xfrm>
          <a:prstGeom prst="rect">
            <a:avLst/>
          </a:prstGeom>
          <a:solidFill>
            <a:srgbClr val="C57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3355848"/>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载流子散射</a:t>
            </a:r>
          </a:p>
        </p:txBody>
      </p:sp>
      <p:sp>
        <p:nvSpPr>
          <p:cNvPr id="22" name="TextBox 21"/>
          <p:cNvSpPr txBox="1"/>
          <p:nvPr/>
        </p:nvSpPr>
        <p:spPr>
          <a:xfrm>
            <a:off x="8247888" y="4041648"/>
            <a:ext cx="3044952" cy="1179576"/>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迁移率可能下降</a:t>
            </a:r>
          </a:p>
          <a:p>
            <a:pPr>
              <a:lnSpc>
                <a:spcPct val="122000"/>
              </a:lnSpc>
              <a:spcBef>
                <a:spcPts val="0"/>
              </a:spcBef>
              <a:spcAft>
                <a:spcPts val="0"/>
              </a:spcAft>
              <a:defRPr sz="2000" b="0">
                <a:solidFill>
                  <a:srgbClr val="203946"/>
                </a:solidFill>
                <a:latin typeface="Microsoft YaHei"/>
              </a:defRPr>
            </a:pPr>
            <a:r>
              <a:rPr>
                <a:ea typeface="Microsoft YaHei"/>
              </a:rPr>
              <a:t>决定电输运代价</a:t>
            </a:r>
          </a:p>
        </p:txBody>
      </p:sp>
      <p:sp>
        <p:nvSpPr>
          <p:cNvPr id="23" name="Rounded Rectangle 22"/>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FFFFFF"/>
                </a:solidFill>
                <a:latin typeface="Microsoft YaHei"/>
              </a:defRPr>
            </a:pPr>
            <a:r>
              <a:rPr>
                <a:ea typeface="Microsoft YaHei"/>
              </a:rPr>
              <a:t>核心判断：能带调控收益，是否被载流子散射损失抵消？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01 立项依据</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研究对象收敛为一个材料与一种双位点组合</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不扩展为多元素全空间筛选；研究对象与科学问题一一对应。</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Ramirez等，2015；Saparamadu等，2020；Huo等，2022；Sun等，2019。题录来自原申请书。</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04</a:t>
            </a:r>
          </a:p>
        </p:txBody>
      </p:sp>
      <p:sp>
        <p:nvSpPr>
          <p:cNvPr id="9" name="Rounded Rectangle 8"/>
          <p:cNvSpPr/>
          <p:nvPr/>
        </p:nvSpPr>
        <p:spPr>
          <a:xfrm>
            <a:off x="694944" y="1920240"/>
            <a:ext cx="5239512" cy="335584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1920240"/>
            <a:ext cx="41148" cy="3355848"/>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93976"/>
            <a:ext cx="4846320"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研究对象｜SmMg</a:t>
            </a:r>
            <a:r>
              <a:rPr>
                <a:latin typeface="Cambria"/>
                <a:ea typeface="Microsoft YaHei"/>
              </a:rPr>
              <a:t>₂</a:t>
            </a:r>
            <a:r>
              <a:rPr>
                <a:ea typeface="Microsoft YaHei"/>
              </a:rPr>
              <a:t>Bi</a:t>
            </a:r>
            <a:r>
              <a:rPr>
                <a:latin typeface="Cambria"/>
                <a:ea typeface="Microsoft YaHei"/>
              </a:rPr>
              <a:t>₂</a:t>
            </a:r>
          </a:p>
        </p:txBody>
      </p:sp>
      <p:sp>
        <p:nvSpPr>
          <p:cNvPr id="12" name="TextBox 11"/>
          <p:cNvSpPr txBox="1"/>
          <p:nvPr/>
        </p:nvSpPr>
        <p:spPr>
          <a:xfrm>
            <a:off x="896112" y="2624328"/>
            <a:ext cx="4837176"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实验问题 → 理论分解</a:t>
            </a:r>
          </a:p>
        </p:txBody>
      </p:sp>
      <p:sp>
        <p:nvSpPr>
          <p:cNvPr id="13" name="TextBox 12"/>
          <p:cNvSpPr txBox="1"/>
          <p:nvPr/>
        </p:nvSpPr>
        <p:spPr>
          <a:xfrm>
            <a:off x="896112" y="3081528"/>
            <a:ext cx="4837176" cy="2084831"/>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Sm位Ca取代 × Bi位Ge取代</a:t>
            </a:r>
          </a:p>
          <a:p>
            <a:pPr>
              <a:lnSpc>
                <a:spcPct val="122000"/>
              </a:lnSpc>
              <a:spcBef>
                <a:spcPts val="0"/>
              </a:spcBef>
              <a:spcAft>
                <a:spcPts val="0"/>
              </a:spcAft>
              <a:defRPr sz="2000" b="0">
                <a:solidFill>
                  <a:srgbClr val="203946"/>
                </a:solidFill>
                <a:latin typeface="Microsoft YaHei"/>
              </a:defRPr>
            </a:pPr>
          </a:p>
          <a:p>
            <a:pPr>
              <a:lnSpc>
                <a:spcPct val="122000"/>
              </a:lnSpc>
              <a:spcBef>
                <a:spcPts val="0"/>
              </a:spcBef>
              <a:spcAft>
                <a:spcPts val="0"/>
              </a:spcAft>
              <a:defRPr sz="2000" b="0">
                <a:solidFill>
                  <a:srgbClr val="203946"/>
                </a:solidFill>
                <a:latin typeface="Microsoft YaHei"/>
              </a:defRPr>
            </a:pPr>
            <a:r>
              <a:rPr>
                <a:ea typeface="Microsoft YaHei"/>
              </a:rPr>
              <a:t>尺寸、质量、电子计数与成键差异</a:t>
            </a:r>
          </a:p>
          <a:p>
            <a:pPr>
              <a:lnSpc>
                <a:spcPct val="122000"/>
              </a:lnSpc>
              <a:spcBef>
                <a:spcPts val="0"/>
              </a:spcBef>
              <a:spcAft>
                <a:spcPts val="0"/>
              </a:spcAft>
              <a:defRPr sz="2000" b="0">
                <a:solidFill>
                  <a:srgbClr val="203946"/>
                </a:solidFill>
                <a:latin typeface="Microsoft YaHei"/>
              </a:defRPr>
            </a:pPr>
            <a:r>
              <a:rPr>
                <a:ea typeface="Microsoft YaHei"/>
              </a:rPr>
              <a:t>提供可对照的物理扰动</a:t>
            </a:r>
          </a:p>
        </p:txBody>
      </p:sp>
      <p:sp>
        <p:nvSpPr>
          <p:cNvPr id="14" name="Rounded Rectangle 13"/>
          <p:cNvSpPr/>
          <p:nvPr/>
        </p:nvSpPr>
        <p:spPr>
          <a:xfrm>
            <a:off x="6172200" y="1920240"/>
            <a:ext cx="5321808" cy="335584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920240"/>
            <a:ext cx="41148" cy="3355848"/>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8" y="2093976"/>
            <a:ext cx="492861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内部对照｜构型与缺陷条件</a:t>
            </a:r>
          </a:p>
        </p:txBody>
      </p:sp>
      <p:sp>
        <p:nvSpPr>
          <p:cNvPr id="17" name="TextBox 16"/>
          <p:cNvSpPr txBox="1"/>
          <p:nvPr/>
        </p:nvSpPr>
        <p:spPr>
          <a:xfrm>
            <a:off x="6373368" y="2624328"/>
            <a:ext cx="4919472"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结构起因 → 散射响应</a:t>
            </a:r>
          </a:p>
        </p:txBody>
      </p:sp>
      <p:sp>
        <p:nvSpPr>
          <p:cNvPr id="18" name="TextBox 17"/>
          <p:cNvSpPr txBox="1"/>
          <p:nvPr/>
        </p:nvSpPr>
        <p:spPr>
          <a:xfrm>
            <a:off x="6373368" y="3081528"/>
            <a:ext cx="4919472" cy="2084831"/>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同一材料中改变局域排列</a:t>
            </a:r>
          </a:p>
          <a:p>
            <a:pPr>
              <a:lnSpc>
                <a:spcPct val="122000"/>
              </a:lnSpc>
              <a:spcBef>
                <a:spcPts val="0"/>
              </a:spcBef>
              <a:spcAft>
                <a:spcPts val="0"/>
              </a:spcAft>
              <a:defRPr sz="2000" b="0">
                <a:solidFill>
                  <a:srgbClr val="203946"/>
                </a:solidFill>
                <a:latin typeface="Microsoft YaHei"/>
              </a:defRPr>
            </a:pPr>
          </a:p>
          <a:p>
            <a:pPr>
              <a:lnSpc>
                <a:spcPct val="122000"/>
              </a:lnSpc>
              <a:spcBef>
                <a:spcPts val="0"/>
              </a:spcBef>
              <a:spcAft>
                <a:spcPts val="0"/>
              </a:spcAft>
              <a:defRPr sz="2000" b="0">
                <a:solidFill>
                  <a:srgbClr val="203946"/>
                </a:solidFill>
                <a:latin typeface="Microsoft YaHei"/>
              </a:defRPr>
            </a:pPr>
            <a:r>
              <a:rPr>
                <a:ea typeface="Microsoft YaHei"/>
              </a:rPr>
              <a:t>分离化学取代与结构弛豫</a:t>
            </a:r>
          </a:p>
          <a:p>
            <a:pPr>
              <a:lnSpc>
                <a:spcPct val="122000"/>
              </a:lnSpc>
              <a:spcBef>
                <a:spcPts val="0"/>
              </a:spcBef>
              <a:spcAft>
                <a:spcPts val="0"/>
              </a:spcAft>
              <a:defRPr sz="2000" b="0">
                <a:solidFill>
                  <a:srgbClr val="203946"/>
                </a:solidFill>
                <a:latin typeface="Microsoft YaHei"/>
              </a:defRPr>
            </a:pPr>
            <a:r>
              <a:rPr>
                <a:ea typeface="Microsoft YaHei"/>
              </a:rPr>
              <a:t>检验缺陷补偿与载流子条件</a:t>
            </a:r>
          </a:p>
        </p:txBody>
      </p:sp>
      <p:sp>
        <p:nvSpPr>
          <p:cNvPr id="19" name="Rounded Rectangle 18"/>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FFFFFF"/>
                </a:solidFill>
                <a:latin typeface="Microsoft YaHei"/>
              </a:defRPr>
            </a:pPr>
            <a:r>
              <a:rPr>
                <a:ea typeface="Microsoft YaHei"/>
              </a:rPr>
              <a:t>研究价值：解释载流子散射的结构起因，不以预设高ZT立项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01 立项依据</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现有工作提供现象，仍需补齐三段证据</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从文献观察走向同条件、可复核的机制验证。</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05</a:t>
            </a:r>
          </a:p>
        </p:txBody>
      </p:sp>
      <p:sp>
        <p:nvSpPr>
          <p:cNvPr id="9" name="Rounded Rectangle 8"/>
          <p:cNvSpPr/>
          <p:nvPr/>
        </p:nvSpPr>
        <p:spPr>
          <a:xfrm>
            <a:off x="694944" y="1965960"/>
            <a:ext cx="3447288" cy="3566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157984"/>
            <a:ext cx="2560320" cy="640080"/>
          </a:xfrm>
          <a:prstGeom prst="rect">
            <a:avLst/>
          </a:prstGeom>
          <a:noFill/>
        </p:spPr>
        <p:txBody>
          <a:bodyPr wrap="none" lIns="0" rIns="0" tIns="0" bIns="0" anchor="t">
            <a:spAutoFit/>
          </a:bodyPr>
          <a:lstStyle/>
          <a:p>
            <a:pPr>
              <a:lnSpc>
                <a:spcPct val="122000"/>
              </a:lnSpc>
              <a:spcBef>
                <a:spcPts val="0"/>
              </a:spcBef>
              <a:spcAft>
                <a:spcPts val="0"/>
              </a:spcAft>
              <a:defRPr sz="3800" b="1">
                <a:solidFill>
                  <a:srgbClr val="117F80"/>
                </a:solidFill>
                <a:latin typeface="Microsoft YaHei"/>
              </a:defRPr>
            </a:pPr>
            <a:r>
              <a:rPr>
                <a:ea typeface="Microsoft YaHei"/>
              </a:rPr>
              <a:t>01</a:t>
            </a:r>
          </a:p>
        </p:txBody>
      </p:sp>
      <p:sp>
        <p:nvSpPr>
          <p:cNvPr id="11" name="TextBox 10"/>
          <p:cNvSpPr txBox="1"/>
          <p:nvPr/>
        </p:nvSpPr>
        <p:spPr>
          <a:xfrm>
            <a:off x="905256" y="2999232"/>
            <a:ext cx="3017520"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交互作用缺口</a:t>
            </a:r>
          </a:p>
        </p:txBody>
      </p:sp>
      <p:sp>
        <p:nvSpPr>
          <p:cNvPr id="12" name="TextBox 11"/>
          <p:cNvSpPr txBox="1"/>
          <p:nvPr/>
        </p:nvSpPr>
        <p:spPr>
          <a:xfrm>
            <a:off x="905256" y="3794760"/>
            <a:ext cx="3017520" cy="1307592"/>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单取代与双取代的变化</a:t>
            </a:r>
          </a:p>
          <a:p>
            <a:pPr>
              <a:lnSpc>
                <a:spcPct val="122000"/>
              </a:lnSpc>
              <a:spcBef>
                <a:spcPts val="0"/>
              </a:spcBef>
              <a:spcAft>
                <a:spcPts val="0"/>
              </a:spcAft>
              <a:defRPr sz="2000" b="0">
                <a:solidFill>
                  <a:srgbClr val="203946"/>
                </a:solidFill>
                <a:latin typeface="Microsoft YaHei"/>
              </a:defRPr>
            </a:pPr>
            <a:r>
              <a:rPr>
                <a:ea typeface="Microsoft YaHei"/>
              </a:rPr>
              <a:t>是相加，还是相互促进/抵</a:t>
            </a:r>
          </a:p>
          <a:p>
            <a:pPr>
              <a:lnSpc>
                <a:spcPct val="122000"/>
              </a:lnSpc>
              <a:spcBef>
                <a:spcPts val="0"/>
              </a:spcBef>
              <a:spcAft>
                <a:spcPts val="0"/>
              </a:spcAft>
              <a:defRPr sz="2000" b="0">
                <a:solidFill>
                  <a:srgbClr val="203946"/>
                </a:solidFill>
                <a:latin typeface="Microsoft YaHei"/>
              </a:defRPr>
            </a:pPr>
            <a:r>
              <a:rPr>
                <a:ea typeface="Microsoft YaHei"/>
              </a:rPr>
              <a:t>消？</a:t>
            </a:r>
          </a:p>
        </p:txBody>
      </p:sp>
      <p:sp>
        <p:nvSpPr>
          <p:cNvPr id="13" name="Rounded Rectangle 12"/>
          <p:cNvSpPr/>
          <p:nvPr/>
        </p:nvSpPr>
        <p:spPr>
          <a:xfrm>
            <a:off x="4370832" y="1965960"/>
            <a:ext cx="3447288" cy="3566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81144" y="2157984"/>
            <a:ext cx="2560320" cy="640080"/>
          </a:xfrm>
          <a:prstGeom prst="rect">
            <a:avLst/>
          </a:prstGeom>
          <a:noFill/>
        </p:spPr>
        <p:txBody>
          <a:bodyPr wrap="none" lIns="0" rIns="0" tIns="0" bIns="0" anchor="t">
            <a:spAutoFit/>
          </a:bodyPr>
          <a:lstStyle/>
          <a:p>
            <a:pPr>
              <a:lnSpc>
                <a:spcPct val="122000"/>
              </a:lnSpc>
              <a:spcBef>
                <a:spcPts val="0"/>
              </a:spcBef>
              <a:spcAft>
                <a:spcPts val="0"/>
              </a:spcAft>
              <a:defRPr sz="3800" b="1">
                <a:solidFill>
                  <a:srgbClr val="117F80"/>
                </a:solidFill>
                <a:latin typeface="Microsoft YaHei"/>
              </a:defRPr>
            </a:pPr>
            <a:r>
              <a:rPr>
                <a:ea typeface="Microsoft YaHei"/>
              </a:rPr>
              <a:t>02</a:t>
            </a:r>
          </a:p>
        </p:txBody>
      </p:sp>
      <p:sp>
        <p:nvSpPr>
          <p:cNvPr id="15" name="TextBox 14"/>
          <p:cNvSpPr txBox="1"/>
          <p:nvPr/>
        </p:nvSpPr>
        <p:spPr>
          <a:xfrm>
            <a:off x="4581144" y="2999232"/>
            <a:ext cx="3017520"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输运可靠性缺口</a:t>
            </a:r>
          </a:p>
        </p:txBody>
      </p:sp>
      <p:sp>
        <p:nvSpPr>
          <p:cNvPr id="16" name="TextBox 15"/>
          <p:cNvSpPr txBox="1"/>
          <p:nvPr/>
        </p:nvSpPr>
        <p:spPr>
          <a:xfrm>
            <a:off x="4581144" y="3794760"/>
            <a:ext cx="3017520" cy="1307592"/>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能带有利时，显式散射</a:t>
            </a:r>
          </a:p>
          <a:p>
            <a:pPr>
              <a:lnSpc>
                <a:spcPct val="122000"/>
              </a:lnSpc>
              <a:spcBef>
                <a:spcPts val="0"/>
              </a:spcBef>
              <a:spcAft>
                <a:spcPts val="0"/>
              </a:spcAft>
              <a:defRPr sz="2000" b="0">
                <a:solidFill>
                  <a:srgbClr val="203946"/>
                </a:solidFill>
                <a:latin typeface="Microsoft YaHei"/>
              </a:defRPr>
            </a:pPr>
            <a:r>
              <a:rPr>
                <a:ea typeface="Microsoft YaHei"/>
              </a:rPr>
              <a:t>是否仍允许功率因子改善</a:t>
            </a:r>
          </a:p>
          <a:p>
            <a:pPr>
              <a:lnSpc>
                <a:spcPct val="122000"/>
              </a:lnSpc>
              <a:spcBef>
                <a:spcPts val="0"/>
              </a:spcBef>
              <a:spcAft>
                <a:spcPts val="0"/>
              </a:spcAft>
              <a:defRPr sz="2000" b="0">
                <a:solidFill>
                  <a:srgbClr val="203946"/>
                </a:solidFill>
                <a:latin typeface="Microsoft YaHei"/>
              </a:defRPr>
            </a:pPr>
            <a:r>
              <a:rPr>
                <a:ea typeface="Microsoft YaHei"/>
              </a:rPr>
              <a:t>？</a:t>
            </a:r>
          </a:p>
        </p:txBody>
      </p:sp>
      <p:sp>
        <p:nvSpPr>
          <p:cNvPr id="17" name="Rounded Rectangle 16"/>
          <p:cNvSpPr/>
          <p:nvPr/>
        </p:nvSpPr>
        <p:spPr>
          <a:xfrm>
            <a:off x="8046720" y="1965960"/>
            <a:ext cx="3447288" cy="3566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2" y="2157984"/>
            <a:ext cx="2560320" cy="640080"/>
          </a:xfrm>
          <a:prstGeom prst="rect">
            <a:avLst/>
          </a:prstGeom>
          <a:noFill/>
        </p:spPr>
        <p:txBody>
          <a:bodyPr wrap="none" lIns="0" rIns="0" tIns="0" bIns="0" anchor="t">
            <a:spAutoFit/>
          </a:bodyPr>
          <a:lstStyle/>
          <a:p>
            <a:pPr>
              <a:lnSpc>
                <a:spcPct val="122000"/>
              </a:lnSpc>
              <a:spcBef>
                <a:spcPts val="0"/>
              </a:spcBef>
              <a:spcAft>
                <a:spcPts val="0"/>
              </a:spcAft>
              <a:defRPr sz="3800" b="1">
                <a:solidFill>
                  <a:srgbClr val="117F80"/>
                </a:solidFill>
                <a:latin typeface="Microsoft YaHei"/>
              </a:defRPr>
            </a:pPr>
            <a:r>
              <a:rPr>
                <a:ea typeface="Microsoft YaHei"/>
              </a:rPr>
              <a:t>03</a:t>
            </a:r>
          </a:p>
        </p:txBody>
      </p:sp>
      <p:sp>
        <p:nvSpPr>
          <p:cNvPr id="19" name="TextBox 18"/>
          <p:cNvSpPr txBox="1"/>
          <p:nvPr/>
        </p:nvSpPr>
        <p:spPr>
          <a:xfrm>
            <a:off x="8257032" y="2999232"/>
            <a:ext cx="3017520"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解释性缺口</a:t>
            </a:r>
          </a:p>
        </p:txBody>
      </p:sp>
      <p:sp>
        <p:nvSpPr>
          <p:cNvPr id="20" name="TextBox 19"/>
          <p:cNvSpPr txBox="1"/>
          <p:nvPr/>
        </p:nvSpPr>
        <p:spPr>
          <a:xfrm>
            <a:off x="8257032" y="3794760"/>
            <a:ext cx="3017520" cy="1307592"/>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描述符相关性</a:t>
            </a:r>
          </a:p>
          <a:p>
            <a:pPr>
              <a:lnSpc>
                <a:spcPct val="122000"/>
              </a:lnSpc>
              <a:spcBef>
                <a:spcPts val="0"/>
              </a:spcBef>
              <a:spcAft>
                <a:spcPts val="0"/>
              </a:spcAft>
              <a:defRPr sz="2000" b="0">
                <a:solidFill>
                  <a:srgbClr val="203946"/>
                </a:solidFill>
                <a:latin typeface="Microsoft YaHei"/>
              </a:defRPr>
            </a:pPr>
            <a:r>
              <a:rPr>
                <a:ea typeface="Microsoft YaHei"/>
              </a:rPr>
              <a:t>能否经独立对照检验？</a:t>
            </a:r>
          </a:p>
        </p:txBody>
      </p:sp>
      <p:sp>
        <p:nvSpPr>
          <p:cNvPr id="21" name="Rounded Rectangle 20"/>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FFFFFF"/>
                </a:solidFill>
                <a:latin typeface="Microsoft YaHei"/>
              </a:defRPr>
            </a:pPr>
            <a:r>
              <a:rPr>
                <a:ea typeface="Microsoft YaHei"/>
              </a:rPr>
              <a:t>不把成熟工具组合或“引入AI”本身作为创新点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02 科学问题</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工作假设：局域畸变改变散射，影响带边收益</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假设允许被否定；性能未改善也可形成机制结论。</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06</a:t>
            </a:r>
          </a:p>
        </p:txBody>
      </p:sp>
      <p:sp>
        <p:nvSpPr>
          <p:cNvPr id="9" name="Rounded Rectangle 8"/>
          <p:cNvSpPr/>
          <p:nvPr/>
        </p:nvSpPr>
        <p:spPr>
          <a:xfrm>
            <a:off x="694944" y="1993392"/>
            <a:ext cx="3447288" cy="307238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1993392"/>
            <a:ext cx="41148" cy="3072384"/>
          </a:xfrm>
          <a:prstGeom prst="rect">
            <a:avLst/>
          </a:prstGeom>
          <a:solidFill>
            <a:srgbClr val="6477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67128"/>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扰动不足</a:t>
            </a:r>
          </a:p>
        </p:txBody>
      </p:sp>
      <p:sp>
        <p:nvSpPr>
          <p:cNvPr id="12" name="TextBox 11"/>
          <p:cNvSpPr txBox="1"/>
          <p:nvPr/>
        </p:nvSpPr>
        <p:spPr>
          <a:xfrm>
            <a:off x="896112" y="2852928"/>
            <a:ext cx="3044952" cy="2103120"/>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带边与耦合变化有限</a:t>
            </a:r>
          </a:p>
          <a:p>
            <a:pPr>
              <a:lnSpc>
                <a:spcPct val="122000"/>
              </a:lnSpc>
              <a:spcBef>
                <a:spcPts val="0"/>
              </a:spcBef>
              <a:spcAft>
                <a:spcPts val="0"/>
              </a:spcAft>
              <a:defRPr sz="2000" b="0">
                <a:solidFill>
                  <a:srgbClr val="203946"/>
                </a:solidFill>
                <a:latin typeface="Microsoft YaHei"/>
              </a:defRPr>
            </a:pPr>
            <a:r>
              <a:rPr>
                <a:ea typeface="Microsoft YaHei"/>
              </a:rPr>
              <a:t>散射变化可能不明显</a:t>
            </a:r>
          </a:p>
        </p:txBody>
      </p:sp>
      <p:sp>
        <p:nvSpPr>
          <p:cNvPr id="13" name="Rounded Rectangle 12"/>
          <p:cNvSpPr/>
          <p:nvPr/>
        </p:nvSpPr>
        <p:spPr>
          <a:xfrm>
            <a:off x="4370832" y="1993392"/>
            <a:ext cx="3447288" cy="307238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1993392"/>
            <a:ext cx="41148" cy="3072384"/>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167128"/>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待检验有效区间</a:t>
            </a:r>
          </a:p>
        </p:txBody>
      </p:sp>
      <p:sp>
        <p:nvSpPr>
          <p:cNvPr id="16" name="TextBox 15"/>
          <p:cNvSpPr txBox="1"/>
          <p:nvPr/>
        </p:nvSpPr>
        <p:spPr>
          <a:xfrm>
            <a:off x="4572000" y="2852928"/>
            <a:ext cx="3044952" cy="2103120"/>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耦合与散射代价可控</a:t>
            </a:r>
          </a:p>
          <a:p>
            <a:pPr>
              <a:lnSpc>
                <a:spcPct val="122000"/>
              </a:lnSpc>
              <a:spcBef>
                <a:spcPts val="0"/>
              </a:spcBef>
              <a:spcAft>
                <a:spcPts val="0"/>
              </a:spcAft>
              <a:defRPr sz="2000" b="0">
                <a:solidFill>
                  <a:srgbClr val="203946"/>
                </a:solidFill>
                <a:latin typeface="Microsoft YaHei"/>
              </a:defRPr>
            </a:pPr>
            <a:r>
              <a:rPr>
                <a:ea typeface="Microsoft YaHei"/>
              </a:rPr>
              <a:t>带边收益可能保留</a:t>
            </a:r>
          </a:p>
        </p:txBody>
      </p:sp>
      <p:sp>
        <p:nvSpPr>
          <p:cNvPr id="17" name="Rounded Rectangle 16"/>
          <p:cNvSpPr/>
          <p:nvPr/>
        </p:nvSpPr>
        <p:spPr>
          <a:xfrm>
            <a:off x="8046720" y="1993392"/>
            <a:ext cx="3447288" cy="307238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993392"/>
            <a:ext cx="41148" cy="3072384"/>
          </a:xfrm>
          <a:prstGeom prst="rect">
            <a:avLst/>
          </a:prstGeom>
          <a:solidFill>
            <a:srgbClr val="C57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167128"/>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扰动过强</a:t>
            </a:r>
          </a:p>
        </p:txBody>
      </p:sp>
      <p:sp>
        <p:nvSpPr>
          <p:cNvPr id="20" name="TextBox 19"/>
          <p:cNvSpPr txBox="1"/>
          <p:nvPr/>
        </p:nvSpPr>
        <p:spPr>
          <a:xfrm>
            <a:off x="8247888" y="2852928"/>
            <a:ext cx="3044952" cy="2103120"/>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结构失稳 / 电子局域化</a:t>
            </a:r>
          </a:p>
          <a:p>
            <a:pPr>
              <a:lnSpc>
                <a:spcPct val="122000"/>
              </a:lnSpc>
              <a:spcBef>
                <a:spcPts val="0"/>
              </a:spcBef>
              <a:spcAft>
                <a:spcPts val="0"/>
              </a:spcAft>
              <a:defRPr sz="2000" b="0">
                <a:solidFill>
                  <a:srgbClr val="203946"/>
                </a:solidFill>
                <a:latin typeface="Microsoft YaHei"/>
              </a:defRPr>
            </a:pPr>
            <a:r>
              <a:rPr>
                <a:ea typeface="Microsoft YaHei"/>
              </a:rPr>
              <a:t>迁移率损失可能占优</a:t>
            </a:r>
          </a:p>
        </p:txBody>
      </p:sp>
      <p:cxnSp>
        <p:nvCxnSpPr>
          <p:cNvPr id="21" name="Connector 20"/>
          <p:cNvCxnSpPr/>
          <p:nvPr/>
        </p:nvCxnSpPr>
        <p:spPr>
          <a:xfrm>
            <a:off x="1234440" y="5440680"/>
            <a:ext cx="9646920" cy="0"/>
          </a:xfrm>
          <a:prstGeom prst="line">
            <a:avLst/>
          </a:prstGeom>
          <a:ln w="38100">
            <a:solidFill>
              <a:srgbClr val="117F8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170432" y="5376672"/>
            <a:ext cx="128016" cy="128016"/>
          </a:xfrm>
          <a:prstGeom prst="ellipse">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89320" y="5376672"/>
            <a:ext cx="128016" cy="128016"/>
          </a:xfrm>
          <a:prstGeom prst="ellipse">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817352" y="5376672"/>
            <a:ext cx="128016" cy="128016"/>
          </a:xfrm>
          <a:prstGeom prst="ellipse">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69080" y="5715000"/>
            <a:ext cx="5120640" cy="429768"/>
          </a:xfrm>
          <a:prstGeom prst="rect">
            <a:avLst/>
          </a:prstGeom>
          <a:noFill/>
        </p:spPr>
        <p:txBody>
          <a:bodyPr wrap="none" lIns="0" rIns="0" tIns="0" bIns="0" anchor="t">
            <a:spAutoFit/>
          </a:bodyPr>
          <a:lstStyle/>
          <a:p>
            <a:pPr>
              <a:lnSpc>
                <a:spcPct val="122000"/>
              </a:lnSpc>
              <a:spcBef>
                <a:spcPts val="0"/>
              </a:spcBef>
              <a:spcAft>
                <a:spcPts val="0"/>
              </a:spcAft>
              <a:defRPr sz="1800" b="0">
                <a:solidFill>
                  <a:srgbClr val="647783"/>
                </a:solidFill>
                <a:latin typeface="Microsoft YaHei"/>
              </a:defRPr>
            </a:pPr>
            <a:r>
              <a:rPr>
                <a:ea typeface="Microsoft YaHei"/>
              </a:rPr>
              <a:t>概念上的局域扰动增强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03 研究内容与目标</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三项内容围绕同一载流子散射问题递进</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样本规模为拟议设计，首年依据代表任务实测成本核定。</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07</a:t>
            </a:r>
          </a:p>
        </p:txBody>
      </p:sp>
      <p:sp>
        <p:nvSpPr>
          <p:cNvPr id="9" name="Rounded Rectangle 8"/>
          <p:cNvSpPr/>
          <p:nvPr/>
        </p:nvSpPr>
        <p:spPr>
          <a:xfrm>
            <a:off x="694944" y="1938528"/>
            <a:ext cx="3447288" cy="350215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1938528"/>
            <a:ext cx="41148" cy="3502152"/>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12264"/>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01 构型与键合</a:t>
            </a:r>
          </a:p>
        </p:txBody>
      </p:sp>
      <p:sp>
        <p:nvSpPr>
          <p:cNvPr id="12" name="TextBox 11"/>
          <p:cNvSpPr txBox="1"/>
          <p:nvPr/>
        </p:nvSpPr>
        <p:spPr>
          <a:xfrm>
            <a:off x="896112" y="2642616"/>
            <a:ext cx="3044952"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起因</a:t>
            </a:r>
          </a:p>
        </p:txBody>
      </p:sp>
      <p:sp>
        <p:nvSpPr>
          <p:cNvPr id="13" name="TextBox 12"/>
          <p:cNvSpPr txBox="1"/>
          <p:nvPr/>
        </p:nvSpPr>
        <p:spPr>
          <a:xfrm>
            <a:off x="896112" y="3099816"/>
            <a:ext cx="3044952" cy="2231136"/>
          </a:xfrm>
          <a:prstGeom prst="rect">
            <a:avLst/>
          </a:prstGeom>
          <a:noFill/>
        </p:spPr>
        <p:txBody>
          <a:bodyPr wrap="none" lIns="0" rIns="0" tIns="0" bIns="0" anchor="t">
            <a:spAutoFit/>
          </a:bodyPr>
          <a:lstStyle/>
          <a:p>
            <a:pPr>
              <a:lnSpc>
                <a:spcPct val="122000"/>
              </a:lnSpc>
              <a:spcBef>
                <a:spcPts val="0"/>
              </a:spcBef>
              <a:spcAft>
                <a:spcPts val="0"/>
              </a:spcAft>
              <a:defRPr sz="1800" b="0">
                <a:solidFill>
                  <a:srgbClr val="203946"/>
                </a:solidFill>
                <a:latin typeface="Microsoft YaHei"/>
              </a:defRPr>
            </a:pPr>
            <a:r>
              <a:rPr>
                <a:ea typeface="Microsoft YaHei"/>
              </a:rPr>
              <a:t>40—60个初始结构/电子构型</a:t>
            </a:r>
          </a:p>
          <a:p>
            <a:pPr>
              <a:lnSpc>
                <a:spcPct val="122000"/>
              </a:lnSpc>
              <a:spcBef>
                <a:spcPts val="0"/>
              </a:spcBef>
              <a:spcAft>
                <a:spcPts val="0"/>
              </a:spcAft>
              <a:defRPr sz="1800" b="0">
                <a:solidFill>
                  <a:srgbClr val="203946"/>
                </a:solidFill>
                <a:latin typeface="Microsoft YaHei"/>
              </a:defRPr>
            </a:pPr>
            <a:r>
              <a:rPr>
                <a:ea typeface="Microsoft YaHei"/>
              </a:rPr>
              <a:t>四组配对与稳定性筛选</a:t>
            </a:r>
          </a:p>
          <a:p>
            <a:pPr>
              <a:lnSpc>
                <a:spcPct val="122000"/>
              </a:lnSpc>
              <a:spcBef>
                <a:spcPts val="0"/>
              </a:spcBef>
              <a:spcAft>
                <a:spcPts val="0"/>
              </a:spcAft>
              <a:defRPr sz="1800" b="0">
                <a:solidFill>
                  <a:srgbClr val="203946"/>
                </a:solidFill>
                <a:latin typeface="Microsoft YaHei"/>
              </a:defRPr>
            </a:pPr>
            <a:r>
              <a:rPr>
                <a:ea typeface="Microsoft YaHei"/>
              </a:rPr>
              <a:t>识别局域键合与交互项</a:t>
            </a:r>
          </a:p>
        </p:txBody>
      </p:sp>
      <p:sp>
        <p:nvSpPr>
          <p:cNvPr id="14" name="Rounded Rectangle 13"/>
          <p:cNvSpPr/>
          <p:nvPr/>
        </p:nvSpPr>
        <p:spPr>
          <a:xfrm>
            <a:off x="4370832" y="1938528"/>
            <a:ext cx="3447288" cy="350215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0832" y="1938528"/>
            <a:ext cx="41148" cy="3502152"/>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112264"/>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02 带边与散射</a:t>
            </a:r>
          </a:p>
        </p:txBody>
      </p:sp>
      <p:sp>
        <p:nvSpPr>
          <p:cNvPr id="17" name="TextBox 16"/>
          <p:cNvSpPr txBox="1"/>
          <p:nvPr/>
        </p:nvSpPr>
        <p:spPr>
          <a:xfrm>
            <a:off x="4572000" y="2642616"/>
            <a:ext cx="3044952"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电输运后果</a:t>
            </a:r>
          </a:p>
        </p:txBody>
      </p:sp>
      <p:sp>
        <p:nvSpPr>
          <p:cNvPr id="18" name="TextBox 17"/>
          <p:cNvSpPr txBox="1"/>
          <p:nvPr/>
        </p:nvSpPr>
        <p:spPr>
          <a:xfrm>
            <a:off x="4572000" y="3099816"/>
            <a:ext cx="3044952" cy="2231136"/>
          </a:xfrm>
          <a:prstGeom prst="rect">
            <a:avLst/>
          </a:prstGeom>
          <a:noFill/>
        </p:spPr>
        <p:txBody>
          <a:bodyPr wrap="none" lIns="0" rIns="0" tIns="0" bIns="0" anchor="t">
            <a:spAutoFit/>
          </a:bodyPr>
          <a:lstStyle/>
          <a:p>
            <a:pPr>
              <a:lnSpc>
                <a:spcPct val="122000"/>
              </a:lnSpc>
              <a:spcBef>
                <a:spcPts val="0"/>
              </a:spcBef>
              <a:spcAft>
                <a:spcPts val="0"/>
              </a:spcAft>
              <a:defRPr sz="1800" b="0">
                <a:solidFill>
                  <a:srgbClr val="203946"/>
                </a:solidFill>
                <a:latin typeface="Microsoft YaHei"/>
              </a:defRPr>
            </a:pPr>
            <a:r>
              <a:rPr>
                <a:ea typeface="Microsoft YaHei"/>
              </a:rPr>
              <a:t>母相＋3—5个代表构型</a:t>
            </a:r>
          </a:p>
          <a:p>
            <a:pPr>
              <a:lnSpc>
                <a:spcPct val="122000"/>
              </a:lnSpc>
              <a:spcBef>
                <a:spcPts val="0"/>
              </a:spcBef>
              <a:spcAft>
                <a:spcPts val="0"/>
              </a:spcAft>
              <a:defRPr sz="1800" b="0">
                <a:solidFill>
                  <a:srgbClr val="203946"/>
                </a:solidFill>
                <a:latin typeface="Microsoft YaHei"/>
              </a:defRPr>
            </a:pPr>
            <a:r>
              <a:rPr>
                <a:ea typeface="Microsoft YaHei"/>
              </a:rPr>
              <a:t>显式散射对照恒定τ近似</a:t>
            </a:r>
          </a:p>
          <a:p>
            <a:pPr>
              <a:lnSpc>
                <a:spcPct val="122000"/>
              </a:lnSpc>
              <a:spcBef>
                <a:spcPts val="0"/>
              </a:spcBef>
              <a:spcAft>
                <a:spcPts val="0"/>
              </a:spcAft>
              <a:defRPr sz="1800" b="0">
                <a:solidFill>
                  <a:srgbClr val="203946"/>
                </a:solidFill>
                <a:latin typeface="Microsoft YaHei"/>
              </a:defRPr>
            </a:pPr>
            <a:r>
              <a:rPr>
                <a:ea typeface="Microsoft YaHei"/>
              </a:rPr>
              <a:t>判断迁移率损失与收益</a:t>
            </a:r>
          </a:p>
        </p:txBody>
      </p:sp>
      <p:sp>
        <p:nvSpPr>
          <p:cNvPr id="19" name="Rounded Rectangle 18"/>
          <p:cNvSpPr/>
          <p:nvPr/>
        </p:nvSpPr>
        <p:spPr>
          <a:xfrm>
            <a:off x="8046720" y="1938528"/>
            <a:ext cx="3447288" cy="350215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1938528"/>
            <a:ext cx="41148" cy="3502152"/>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2112264"/>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03 机制验证与约束</a:t>
            </a:r>
          </a:p>
        </p:txBody>
      </p:sp>
      <p:sp>
        <p:nvSpPr>
          <p:cNvPr id="22" name="TextBox 21"/>
          <p:cNvSpPr txBox="1"/>
          <p:nvPr/>
        </p:nvSpPr>
        <p:spPr>
          <a:xfrm>
            <a:off x="8247888" y="2642616"/>
            <a:ext cx="3044952"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构型验证，热输运辅助</a:t>
            </a:r>
          </a:p>
        </p:txBody>
      </p:sp>
      <p:sp>
        <p:nvSpPr>
          <p:cNvPr id="23" name="TextBox 22"/>
          <p:cNvSpPr txBox="1"/>
          <p:nvPr/>
        </p:nvSpPr>
        <p:spPr>
          <a:xfrm>
            <a:off x="8247888" y="3099816"/>
            <a:ext cx="3044952" cy="2231136"/>
          </a:xfrm>
          <a:prstGeom prst="rect">
            <a:avLst/>
          </a:prstGeom>
          <a:noFill/>
        </p:spPr>
        <p:txBody>
          <a:bodyPr wrap="none" lIns="0" rIns="0" tIns="0" bIns="0" anchor="t">
            <a:spAutoFit/>
          </a:bodyPr>
          <a:lstStyle/>
          <a:p>
            <a:pPr>
              <a:lnSpc>
                <a:spcPct val="122000"/>
              </a:lnSpc>
              <a:spcBef>
                <a:spcPts val="0"/>
              </a:spcBef>
              <a:spcAft>
                <a:spcPts val="0"/>
              </a:spcAft>
              <a:defRPr sz="1800" b="0">
                <a:solidFill>
                  <a:srgbClr val="203946"/>
                </a:solidFill>
                <a:latin typeface="Microsoft YaHei"/>
              </a:defRPr>
            </a:pPr>
            <a:r>
              <a:rPr>
                <a:ea typeface="Microsoft YaHei"/>
              </a:rPr>
              <a:t>独立构型与缺陷条件验证</a:t>
            </a:r>
          </a:p>
          <a:p>
            <a:pPr>
              <a:lnSpc>
                <a:spcPct val="122000"/>
              </a:lnSpc>
              <a:spcBef>
                <a:spcPts val="0"/>
              </a:spcBef>
              <a:spcAft>
                <a:spcPts val="0"/>
              </a:spcAft>
              <a:defRPr sz="1800" b="0">
                <a:solidFill>
                  <a:srgbClr val="203946"/>
                </a:solidFill>
                <a:latin typeface="Microsoft YaHei"/>
              </a:defRPr>
            </a:pPr>
            <a:r>
              <a:rPr>
                <a:ea typeface="Microsoft YaHei"/>
              </a:rPr>
              <a:t>仅母相＋3个构型查κL</a:t>
            </a:r>
          </a:p>
          <a:p>
            <a:pPr>
              <a:lnSpc>
                <a:spcPct val="122000"/>
              </a:lnSpc>
              <a:spcBef>
                <a:spcPts val="0"/>
              </a:spcBef>
              <a:spcAft>
                <a:spcPts val="0"/>
              </a:spcAft>
              <a:defRPr sz="1800" b="0">
                <a:solidFill>
                  <a:srgbClr val="203946"/>
                </a:solidFill>
                <a:latin typeface="Microsoft YaHei"/>
              </a:defRPr>
            </a:pPr>
            <a:r>
              <a:rPr>
                <a:ea typeface="Microsoft YaHei"/>
              </a:rPr>
              <a:t>给出散射路径与反例</a:t>
            </a:r>
          </a:p>
        </p:txBody>
      </p:sp>
      <p:sp>
        <p:nvSpPr>
          <p:cNvPr id="24" name="Rounded Rectangle 23"/>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1800" b="1">
                <a:solidFill>
                  <a:srgbClr val="FFFFFF"/>
                </a:solidFill>
                <a:latin typeface="Microsoft YaHei"/>
              </a:defRPr>
            </a:pPr>
            <a:r>
              <a:rPr>
                <a:ea typeface="Microsoft YaHei"/>
              </a:rPr>
              <a:t>交付：结构起因 + 显式散射证据 + PF变化条件 + 1—2个候选或反例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04 技术路线｜研究内容一</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四组配对：把“双位点协同”变成可计算量</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同一超胞、同一计算精度、同一温度与明确载流子条件。</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研究设计示意；未展示任何已完成的交互项计算数值。</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08</a:t>
            </a:r>
          </a:p>
        </p:txBody>
      </p:sp>
      <p:sp>
        <p:nvSpPr>
          <p:cNvPr id="9" name="Rounded Rectangle 8"/>
          <p:cNvSpPr/>
          <p:nvPr/>
        </p:nvSpPr>
        <p:spPr>
          <a:xfrm>
            <a:off x="694944" y="1938528"/>
            <a:ext cx="2788920" cy="1371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103120"/>
            <a:ext cx="2468880" cy="438912"/>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22B3A"/>
                </a:solidFill>
                <a:latin typeface="Microsoft YaHei"/>
              </a:defRPr>
            </a:pPr>
            <a:r>
              <a:rPr>
                <a:ea typeface="Microsoft YaHei"/>
              </a:rPr>
              <a:t>母相 Q</a:t>
            </a:r>
            <a:r>
              <a:rPr>
                <a:latin typeface="Cambria"/>
                <a:ea typeface="Microsoft YaHei"/>
              </a:rPr>
              <a:t>₀</a:t>
            </a:r>
          </a:p>
        </p:txBody>
      </p:sp>
      <p:sp>
        <p:nvSpPr>
          <p:cNvPr id="11" name="TextBox 10"/>
          <p:cNvSpPr txBox="1"/>
          <p:nvPr/>
        </p:nvSpPr>
        <p:spPr>
          <a:xfrm>
            <a:off x="877824" y="2715768"/>
            <a:ext cx="2468880" cy="384048"/>
          </a:xfrm>
          <a:prstGeom prst="rect">
            <a:avLst/>
          </a:prstGeom>
          <a:noFill/>
        </p:spPr>
        <p:txBody>
          <a:bodyPr wrap="none" lIns="0" rIns="0" tIns="0" bIns="0" anchor="t">
            <a:spAutoFit/>
          </a:bodyPr>
          <a:lstStyle/>
          <a:p>
            <a:pPr>
              <a:lnSpc>
                <a:spcPct val="122000"/>
              </a:lnSpc>
              <a:spcBef>
                <a:spcPts val="0"/>
              </a:spcBef>
              <a:spcAft>
                <a:spcPts val="0"/>
              </a:spcAft>
              <a:defRPr sz="1600" b="0">
                <a:solidFill>
                  <a:srgbClr val="647783"/>
                </a:solidFill>
                <a:latin typeface="Microsoft YaHei"/>
              </a:defRPr>
            </a:pPr>
            <a:r>
              <a:rPr>
                <a:ea typeface="Microsoft YaHei"/>
              </a:rPr>
              <a:t>不含目标取代</a:t>
            </a:r>
          </a:p>
        </p:txBody>
      </p:sp>
      <p:sp>
        <p:nvSpPr>
          <p:cNvPr id="12" name="Rounded Rectangle 11"/>
          <p:cNvSpPr/>
          <p:nvPr/>
        </p:nvSpPr>
        <p:spPr>
          <a:xfrm>
            <a:off x="3703320" y="1938528"/>
            <a:ext cx="2788920" cy="1371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86200" y="2103120"/>
            <a:ext cx="2468880" cy="438912"/>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22B3A"/>
                </a:solidFill>
                <a:latin typeface="Microsoft YaHei"/>
              </a:defRPr>
            </a:pPr>
            <a:r>
              <a:rPr>
                <a:ea typeface="Microsoft YaHei"/>
              </a:rPr>
              <a:t>Ca单取代 QCa</a:t>
            </a:r>
          </a:p>
        </p:txBody>
      </p:sp>
      <p:sp>
        <p:nvSpPr>
          <p:cNvPr id="14" name="TextBox 13"/>
          <p:cNvSpPr txBox="1"/>
          <p:nvPr/>
        </p:nvSpPr>
        <p:spPr>
          <a:xfrm>
            <a:off x="3886200" y="2715768"/>
            <a:ext cx="2468880" cy="384048"/>
          </a:xfrm>
          <a:prstGeom prst="rect">
            <a:avLst/>
          </a:prstGeom>
          <a:noFill/>
        </p:spPr>
        <p:txBody>
          <a:bodyPr wrap="none" lIns="0" rIns="0" tIns="0" bIns="0" anchor="t">
            <a:spAutoFit/>
          </a:bodyPr>
          <a:lstStyle/>
          <a:p>
            <a:pPr>
              <a:lnSpc>
                <a:spcPct val="122000"/>
              </a:lnSpc>
              <a:spcBef>
                <a:spcPts val="0"/>
              </a:spcBef>
              <a:spcAft>
                <a:spcPts val="0"/>
              </a:spcAft>
              <a:defRPr sz="1600" b="0">
                <a:solidFill>
                  <a:srgbClr val="647783"/>
                </a:solidFill>
                <a:latin typeface="Microsoft YaHei"/>
              </a:defRPr>
            </a:pPr>
            <a:r>
              <a:rPr>
                <a:ea typeface="Microsoft YaHei"/>
              </a:rPr>
              <a:t>固定Ca比例</a:t>
            </a:r>
          </a:p>
        </p:txBody>
      </p:sp>
      <p:sp>
        <p:nvSpPr>
          <p:cNvPr id="15" name="Rounded Rectangle 14"/>
          <p:cNvSpPr/>
          <p:nvPr/>
        </p:nvSpPr>
        <p:spPr>
          <a:xfrm>
            <a:off x="694944" y="3547872"/>
            <a:ext cx="2788920" cy="1371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3712463"/>
            <a:ext cx="2468880" cy="438912"/>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22B3A"/>
                </a:solidFill>
                <a:latin typeface="Microsoft YaHei"/>
              </a:defRPr>
            </a:pPr>
            <a:r>
              <a:rPr>
                <a:ea typeface="Microsoft YaHei"/>
              </a:rPr>
              <a:t>Ge单取代 QGe</a:t>
            </a:r>
          </a:p>
        </p:txBody>
      </p:sp>
      <p:sp>
        <p:nvSpPr>
          <p:cNvPr id="17" name="TextBox 16"/>
          <p:cNvSpPr txBox="1"/>
          <p:nvPr/>
        </p:nvSpPr>
        <p:spPr>
          <a:xfrm>
            <a:off x="877824" y="4325112"/>
            <a:ext cx="2468880" cy="384048"/>
          </a:xfrm>
          <a:prstGeom prst="rect">
            <a:avLst/>
          </a:prstGeom>
          <a:noFill/>
        </p:spPr>
        <p:txBody>
          <a:bodyPr wrap="none" lIns="0" rIns="0" tIns="0" bIns="0" anchor="t">
            <a:spAutoFit/>
          </a:bodyPr>
          <a:lstStyle/>
          <a:p>
            <a:pPr>
              <a:lnSpc>
                <a:spcPct val="122000"/>
              </a:lnSpc>
              <a:spcBef>
                <a:spcPts val="0"/>
              </a:spcBef>
              <a:spcAft>
                <a:spcPts val="0"/>
              </a:spcAft>
              <a:defRPr sz="1600" b="0">
                <a:solidFill>
                  <a:srgbClr val="647783"/>
                </a:solidFill>
                <a:latin typeface="Microsoft YaHei"/>
              </a:defRPr>
            </a:pPr>
            <a:r>
              <a:rPr>
                <a:ea typeface="Microsoft YaHei"/>
              </a:rPr>
              <a:t>固定Ge比例</a:t>
            </a:r>
          </a:p>
        </p:txBody>
      </p:sp>
      <p:sp>
        <p:nvSpPr>
          <p:cNvPr id="18" name="Rounded Rectangle 17"/>
          <p:cNvSpPr/>
          <p:nvPr/>
        </p:nvSpPr>
        <p:spPr>
          <a:xfrm>
            <a:off x="3703320" y="3547872"/>
            <a:ext cx="2788920" cy="1371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86200" y="3712463"/>
            <a:ext cx="2468880" cy="438912"/>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22B3A"/>
                </a:solidFill>
                <a:latin typeface="Microsoft YaHei"/>
              </a:defRPr>
            </a:pPr>
            <a:r>
              <a:rPr>
                <a:ea typeface="Microsoft YaHei"/>
              </a:rPr>
              <a:t>双取代 QCa+Ge</a:t>
            </a:r>
          </a:p>
        </p:txBody>
      </p:sp>
      <p:sp>
        <p:nvSpPr>
          <p:cNvPr id="20" name="TextBox 19"/>
          <p:cNvSpPr txBox="1"/>
          <p:nvPr/>
        </p:nvSpPr>
        <p:spPr>
          <a:xfrm>
            <a:off x="3886200" y="4325112"/>
            <a:ext cx="2468880" cy="384048"/>
          </a:xfrm>
          <a:prstGeom prst="rect">
            <a:avLst/>
          </a:prstGeom>
          <a:noFill/>
        </p:spPr>
        <p:txBody>
          <a:bodyPr wrap="none" lIns="0" rIns="0" tIns="0" bIns="0" anchor="t">
            <a:spAutoFit/>
          </a:bodyPr>
          <a:lstStyle/>
          <a:p>
            <a:pPr>
              <a:lnSpc>
                <a:spcPct val="122000"/>
              </a:lnSpc>
              <a:spcBef>
                <a:spcPts val="0"/>
              </a:spcBef>
              <a:spcAft>
                <a:spcPts val="0"/>
              </a:spcAft>
              <a:defRPr sz="1600" b="0">
                <a:solidFill>
                  <a:srgbClr val="647783"/>
                </a:solidFill>
                <a:latin typeface="Microsoft YaHei"/>
              </a:defRPr>
            </a:pPr>
            <a:r>
              <a:rPr>
                <a:ea typeface="Microsoft YaHei"/>
              </a:rPr>
              <a:t>比例与单取代配对</a:t>
            </a:r>
          </a:p>
        </p:txBody>
      </p:sp>
      <p:sp>
        <p:nvSpPr>
          <p:cNvPr id="21" name="Rounded Rectangle 20"/>
          <p:cNvSpPr/>
          <p:nvPr/>
        </p:nvSpPr>
        <p:spPr>
          <a:xfrm>
            <a:off x="6858000" y="1938528"/>
            <a:ext cx="4645152" cy="2980944"/>
          </a:xfrm>
          <a:prstGeom prst="roundRect">
            <a:avLst>
              <a:gd name="adj" fmla="val 10000"/>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2194560"/>
            <a:ext cx="4069080" cy="457200"/>
          </a:xfrm>
          <a:prstGeom prst="rect">
            <a:avLst/>
          </a:prstGeom>
          <a:noFill/>
        </p:spPr>
        <p:txBody>
          <a:bodyPr wrap="none" lIns="0" rIns="0" tIns="0" bIns="0" anchor="t">
            <a:spAutoFit/>
          </a:bodyPr>
          <a:lstStyle/>
          <a:p>
            <a:pPr>
              <a:lnSpc>
                <a:spcPct val="122000"/>
              </a:lnSpc>
              <a:spcBef>
                <a:spcPts val="0"/>
              </a:spcBef>
              <a:spcAft>
                <a:spcPts val="0"/>
              </a:spcAft>
              <a:defRPr sz="2300" b="1">
                <a:solidFill>
                  <a:srgbClr val="117F80"/>
                </a:solidFill>
                <a:latin typeface="Microsoft YaHei"/>
              </a:defRPr>
            </a:pPr>
            <a:r>
              <a:rPr>
                <a:ea typeface="Microsoft YaHei"/>
              </a:rPr>
              <a:t>交互项</a:t>
            </a:r>
          </a:p>
        </p:txBody>
      </p:sp>
      <p:sp>
        <p:nvSpPr>
          <p:cNvPr id="23" name="TextBox 22"/>
          <p:cNvSpPr txBox="1"/>
          <p:nvPr/>
        </p:nvSpPr>
        <p:spPr>
          <a:xfrm>
            <a:off x="7132320" y="2971800"/>
            <a:ext cx="4069080" cy="987552"/>
          </a:xfrm>
          <a:prstGeom prst="rect">
            <a:avLst/>
          </a:prstGeom>
          <a:noFill/>
        </p:spPr>
        <p:txBody>
          <a:bodyPr wrap="none" lIns="0" rIns="0" tIns="0" bIns="0" anchor="t">
            <a:spAutoFit/>
          </a:bodyPr>
          <a:lstStyle/>
          <a:p>
            <a:pPr>
              <a:lnSpc>
                <a:spcPct val="122000"/>
              </a:lnSpc>
              <a:spcBef>
                <a:spcPts val="0"/>
              </a:spcBef>
              <a:spcAft>
                <a:spcPts val="0"/>
              </a:spcAft>
              <a:defRPr sz="2200" b="1">
                <a:solidFill>
                  <a:srgbClr val="122B3A"/>
                </a:solidFill>
                <a:latin typeface="Microsoft YaHei"/>
              </a:defRPr>
            </a:pPr>
            <a:r>
              <a:rPr>
                <a:ea typeface="Microsoft YaHei"/>
              </a:rPr>
              <a:t>ΔQint = QCa+Ge − QCa</a:t>
            </a:r>
          </a:p>
          <a:p>
            <a:pPr>
              <a:lnSpc>
                <a:spcPct val="122000"/>
              </a:lnSpc>
              <a:spcBef>
                <a:spcPts val="0"/>
              </a:spcBef>
              <a:spcAft>
                <a:spcPts val="0"/>
              </a:spcAft>
              <a:defRPr sz="2200" b="1">
                <a:solidFill>
                  <a:srgbClr val="122B3A"/>
                </a:solidFill>
                <a:latin typeface="Microsoft YaHei"/>
              </a:defRPr>
            </a:pPr>
            <a:r>
              <a:rPr>
                <a:ea typeface="Microsoft YaHei"/>
              </a:rPr>
              <a:t>           − QGe + Q</a:t>
            </a:r>
            <a:r>
              <a:rPr>
                <a:latin typeface="Cambria"/>
                <a:ea typeface="Microsoft YaHei"/>
              </a:rPr>
              <a:t>₀</a:t>
            </a:r>
          </a:p>
        </p:txBody>
      </p:sp>
      <p:sp>
        <p:nvSpPr>
          <p:cNvPr id="24" name="TextBox 23"/>
          <p:cNvSpPr txBox="1"/>
          <p:nvPr/>
        </p:nvSpPr>
        <p:spPr>
          <a:xfrm>
            <a:off x="7132320" y="4233672"/>
            <a:ext cx="4050791" cy="393192"/>
          </a:xfrm>
          <a:prstGeom prst="rect">
            <a:avLst/>
          </a:prstGeom>
          <a:noFill/>
        </p:spPr>
        <p:txBody>
          <a:bodyPr wrap="none" lIns="0" rIns="0" tIns="0" bIns="0" anchor="t">
            <a:spAutoFit/>
          </a:bodyPr>
          <a:lstStyle/>
          <a:p>
            <a:pPr>
              <a:lnSpc>
                <a:spcPct val="122000"/>
              </a:lnSpc>
              <a:spcBef>
                <a:spcPts val="0"/>
              </a:spcBef>
              <a:spcAft>
                <a:spcPts val="0"/>
              </a:spcAft>
              <a:defRPr sz="1900" b="1">
                <a:solidFill>
                  <a:srgbClr val="A44938"/>
                </a:solidFill>
                <a:latin typeface="Microsoft YaHei"/>
              </a:defRPr>
            </a:pPr>
            <a:r>
              <a:rPr>
                <a:ea typeface="Microsoft YaHei"/>
              </a:rPr>
              <a:t>非加和 ≠ 必然有利</a:t>
            </a:r>
          </a:p>
        </p:txBody>
      </p:sp>
      <p:sp>
        <p:nvSpPr>
          <p:cNvPr id="25" name="Rounded Rectangle 24"/>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FFFFFF"/>
                </a:solidFill>
                <a:latin typeface="Microsoft YaHei"/>
              </a:defRPr>
            </a:pPr>
            <a:r>
              <a:rPr>
                <a:ea typeface="Microsoft YaHei"/>
              </a:rPr>
              <a:t>同时比较近邻/远离与多个构型，避免将个案外推为普遍规律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04 技术路线｜研究内容一</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电子结构基准先行，控制Sm与Bi带来的不确定性</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精度控制属于方法保障，不单独包装为科学创新。</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09</a:t>
            </a:r>
          </a:p>
        </p:txBody>
      </p:sp>
      <p:sp>
        <p:nvSpPr>
          <p:cNvPr id="9" name="Rounded Rectangle 8"/>
          <p:cNvSpPr/>
          <p:nvPr/>
        </p:nvSpPr>
        <p:spPr>
          <a:xfrm>
            <a:off x="694944" y="1938528"/>
            <a:ext cx="3447288"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1938528"/>
            <a:ext cx="41148" cy="3456432"/>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12264"/>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结构与能量</a:t>
            </a:r>
          </a:p>
        </p:txBody>
      </p:sp>
      <p:sp>
        <p:nvSpPr>
          <p:cNvPr id="12" name="TextBox 11"/>
          <p:cNvSpPr txBox="1"/>
          <p:nvPr/>
        </p:nvSpPr>
        <p:spPr>
          <a:xfrm>
            <a:off x="896112" y="2798064"/>
            <a:ext cx="3044952" cy="2487168"/>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PBE + PAW</a:t>
            </a:r>
          </a:p>
          <a:p>
            <a:pPr>
              <a:lnSpc>
                <a:spcPct val="122000"/>
              </a:lnSpc>
              <a:spcBef>
                <a:spcPts val="0"/>
              </a:spcBef>
              <a:spcAft>
                <a:spcPts val="0"/>
              </a:spcAft>
              <a:defRPr sz="2000" b="0">
                <a:solidFill>
                  <a:srgbClr val="203946"/>
                </a:solidFill>
                <a:latin typeface="Microsoft YaHei"/>
              </a:defRPr>
            </a:pPr>
            <a:r>
              <a:rPr>
                <a:ea typeface="Microsoft YaHei"/>
              </a:rPr>
              <a:t>结构弛豫与收敛</a:t>
            </a:r>
          </a:p>
          <a:p>
            <a:pPr>
              <a:lnSpc>
                <a:spcPct val="122000"/>
              </a:lnSpc>
              <a:spcBef>
                <a:spcPts val="0"/>
              </a:spcBef>
              <a:spcAft>
                <a:spcPts val="0"/>
              </a:spcAft>
              <a:defRPr sz="2000" b="0">
                <a:solidFill>
                  <a:srgbClr val="203946"/>
                </a:solidFill>
                <a:latin typeface="Microsoft YaHei"/>
              </a:defRPr>
            </a:pPr>
            <a:r>
              <a:rPr>
                <a:ea typeface="Microsoft YaHei"/>
              </a:rPr>
              <a:t>竞争相 / 稳定性</a:t>
            </a:r>
          </a:p>
          <a:p>
            <a:pPr>
              <a:lnSpc>
                <a:spcPct val="122000"/>
              </a:lnSpc>
              <a:spcBef>
                <a:spcPts val="0"/>
              </a:spcBef>
              <a:spcAft>
                <a:spcPts val="0"/>
              </a:spcAft>
              <a:defRPr sz="2000" b="0">
                <a:solidFill>
                  <a:srgbClr val="203946"/>
                </a:solidFill>
                <a:latin typeface="Microsoft YaHei"/>
              </a:defRPr>
            </a:pPr>
            <a:r>
              <a:rPr>
                <a:ea typeface="Microsoft YaHei"/>
              </a:rPr>
              <a:t>缺陷补偿与可达性</a:t>
            </a:r>
          </a:p>
        </p:txBody>
      </p:sp>
      <p:sp>
        <p:nvSpPr>
          <p:cNvPr id="13" name="Rounded Rectangle 12"/>
          <p:cNvSpPr/>
          <p:nvPr/>
        </p:nvSpPr>
        <p:spPr>
          <a:xfrm>
            <a:off x="4370832" y="1938528"/>
            <a:ext cx="3447288"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1938528"/>
            <a:ext cx="41148" cy="3456432"/>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112264"/>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Sm与重元素</a:t>
            </a:r>
          </a:p>
        </p:txBody>
      </p:sp>
      <p:sp>
        <p:nvSpPr>
          <p:cNvPr id="16" name="TextBox 15"/>
          <p:cNvSpPr txBox="1"/>
          <p:nvPr/>
        </p:nvSpPr>
        <p:spPr>
          <a:xfrm>
            <a:off x="4572000" y="2798064"/>
            <a:ext cx="3044952" cy="2487168"/>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Sm 4f与磁态比较</a:t>
            </a:r>
          </a:p>
          <a:p>
            <a:pPr>
              <a:lnSpc>
                <a:spcPct val="122000"/>
              </a:lnSpc>
              <a:spcBef>
                <a:spcPts val="0"/>
              </a:spcBef>
              <a:spcAft>
                <a:spcPts val="0"/>
              </a:spcAft>
              <a:defRPr sz="2000" b="0">
                <a:solidFill>
                  <a:srgbClr val="203946"/>
                </a:solidFill>
                <a:latin typeface="Microsoft YaHei"/>
              </a:defRPr>
            </a:pPr>
            <a:r>
              <a:rPr>
                <a:ea typeface="Microsoft YaHei"/>
              </a:rPr>
              <a:t>SOC处理带边态</a:t>
            </a:r>
          </a:p>
          <a:p>
            <a:pPr>
              <a:lnSpc>
                <a:spcPct val="122000"/>
              </a:lnSpc>
              <a:spcBef>
                <a:spcPts val="0"/>
              </a:spcBef>
              <a:spcAft>
                <a:spcPts val="0"/>
              </a:spcAft>
              <a:defRPr sz="2000" b="0">
                <a:solidFill>
                  <a:srgbClr val="203946"/>
                </a:solidFill>
                <a:latin typeface="Microsoft YaHei"/>
              </a:defRPr>
            </a:pPr>
            <a:r>
              <a:rPr>
                <a:ea typeface="Microsoft YaHei"/>
              </a:rPr>
              <a:t>必要时DFT+U</a:t>
            </a:r>
          </a:p>
          <a:p>
            <a:pPr>
              <a:lnSpc>
                <a:spcPct val="122000"/>
              </a:lnSpc>
              <a:spcBef>
                <a:spcPts val="0"/>
              </a:spcBef>
              <a:spcAft>
                <a:spcPts val="0"/>
              </a:spcAft>
              <a:defRPr sz="2000" b="0">
                <a:solidFill>
                  <a:srgbClr val="203946"/>
                </a:solidFill>
                <a:latin typeface="Microsoft YaHei"/>
              </a:defRPr>
            </a:pPr>
            <a:r>
              <a:rPr>
                <a:ea typeface="Microsoft YaHei"/>
              </a:rPr>
              <a:t>报告参数敏感性</a:t>
            </a:r>
          </a:p>
        </p:txBody>
      </p:sp>
      <p:sp>
        <p:nvSpPr>
          <p:cNvPr id="17" name="Rounded Rectangle 16"/>
          <p:cNvSpPr/>
          <p:nvPr/>
        </p:nvSpPr>
        <p:spPr>
          <a:xfrm>
            <a:off x="8046720" y="1938528"/>
            <a:ext cx="3447288"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938528"/>
            <a:ext cx="41148" cy="3456432"/>
          </a:xfrm>
          <a:prstGeom prst="rect">
            <a:avLst/>
          </a:prstGeom>
          <a:solidFill>
            <a:srgbClr val="C57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7888" y="2112264"/>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关键排序复核</a:t>
            </a:r>
          </a:p>
        </p:txBody>
      </p:sp>
      <p:sp>
        <p:nvSpPr>
          <p:cNvPr id="20" name="TextBox 19"/>
          <p:cNvSpPr txBox="1"/>
          <p:nvPr/>
        </p:nvSpPr>
        <p:spPr>
          <a:xfrm>
            <a:off x="8247888" y="2798064"/>
            <a:ext cx="3044952" cy="2487168"/>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TB-mBJ检验电子态</a:t>
            </a:r>
          </a:p>
          <a:p>
            <a:pPr>
              <a:lnSpc>
                <a:spcPct val="122000"/>
              </a:lnSpc>
              <a:spcBef>
                <a:spcPts val="0"/>
              </a:spcBef>
              <a:spcAft>
                <a:spcPts val="0"/>
              </a:spcAft>
              <a:defRPr sz="2000" b="0">
                <a:solidFill>
                  <a:srgbClr val="203946"/>
                </a:solidFill>
                <a:latin typeface="Microsoft YaHei"/>
              </a:defRPr>
            </a:pPr>
            <a:r>
              <a:rPr>
                <a:ea typeface="Microsoft YaHei"/>
              </a:rPr>
              <a:t>少量HSE06复核</a:t>
            </a:r>
          </a:p>
          <a:p>
            <a:pPr>
              <a:lnSpc>
                <a:spcPct val="122000"/>
              </a:lnSpc>
              <a:spcBef>
                <a:spcPts val="0"/>
              </a:spcBef>
              <a:spcAft>
                <a:spcPts val="0"/>
              </a:spcAft>
              <a:defRPr sz="2000" b="0">
                <a:solidFill>
                  <a:srgbClr val="203946"/>
                </a:solidFill>
                <a:latin typeface="Microsoft YaHei"/>
              </a:defRPr>
            </a:pPr>
            <a:r>
              <a:rPr>
                <a:ea typeface="Microsoft YaHei"/>
              </a:rPr>
              <a:t>保留可信结果范围</a:t>
            </a:r>
          </a:p>
          <a:p>
            <a:pPr>
              <a:lnSpc>
                <a:spcPct val="122000"/>
              </a:lnSpc>
              <a:spcBef>
                <a:spcPts val="0"/>
              </a:spcBef>
              <a:spcAft>
                <a:spcPts val="0"/>
              </a:spcAft>
              <a:defRPr sz="2000" b="0">
                <a:solidFill>
                  <a:srgbClr val="203946"/>
                </a:solidFill>
                <a:latin typeface="Microsoft YaHei"/>
              </a:defRPr>
            </a:pPr>
            <a:r>
              <a:rPr>
                <a:ea typeface="Microsoft YaHei"/>
              </a:rPr>
              <a:t>不通过调参追求高ZT</a:t>
            </a:r>
          </a:p>
        </p:txBody>
      </p:sp>
      <p:sp>
        <p:nvSpPr>
          <p:cNvPr id="21" name="Rounded Rectangle 20"/>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FFFFFF"/>
                </a:solidFill>
                <a:latin typeface="Microsoft YaHei"/>
              </a:defRPr>
            </a:pPr>
            <a:r>
              <a:rPr>
                <a:ea typeface="Microsoft YaHei"/>
              </a:rPr>
              <a:t>原则：稳健的物理排序，比单一“最优数值”更重要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04 技术路线｜研究内容一</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三类受控对照，区分成分、弛豫与质量效应</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机制证据来自对照计算，特征重要性只用于提出假设。</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10</a:t>
            </a:r>
          </a:p>
        </p:txBody>
      </p:sp>
      <p:sp>
        <p:nvSpPr>
          <p:cNvPr id="9" name="Oval 8"/>
          <p:cNvSpPr/>
          <p:nvPr/>
        </p:nvSpPr>
        <p:spPr>
          <a:xfrm>
            <a:off x="749808" y="2066543"/>
            <a:ext cx="457200" cy="457200"/>
          </a:xfrm>
          <a:prstGeom prst="ellipse">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12264"/>
            <a:ext cx="219456" cy="301752"/>
          </a:xfrm>
          <a:prstGeom prst="rect">
            <a:avLst/>
          </a:prstGeom>
          <a:noFill/>
        </p:spPr>
        <p:txBody>
          <a:bodyPr wrap="none" lIns="0" rIns="0" tIns="0" bIns="0" anchor="t">
            <a:spAutoFit/>
          </a:bodyPr>
          <a:lstStyle/>
          <a:p>
            <a:pPr>
              <a:lnSpc>
                <a:spcPct val="122000"/>
              </a:lnSpc>
              <a:spcBef>
                <a:spcPts val="0"/>
              </a:spcBef>
              <a:spcAft>
                <a:spcPts val="0"/>
              </a:spcAft>
              <a:defRPr sz="1500" b="1">
                <a:solidFill>
                  <a:srgbClr val="FFFFFF"/>
                </a:solidFill>
                <a:latin typeface="Microsoft YaHei"/>
              </a:defRPr>
            </a:pPr>
            <a:r>
              <a:rPr>
                <a:ea typeface="Microsoft YaHei"/>
              </a:rPr>
              <a:t>A</a:t>
            </a:r>
          </a:p>
        </p:txBody>
      </p:sp>
      <p:sp>
        <p:nvSpPr>
          <p:cNvPr id="11" name="TextBox 10"/>
          <p:cNvSpPr txBox="1"/>
          <p:nvPr/>
        </p:nvSpPr>
        <p:spPr>
          <a:xfrm>
            <a:off x="1435608" y="2130552"/>
            <a:ext cx="2057400" cy="457200"/>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22B3A"/>
                </a:solidFill>
                <a:latin typeface="Microsoft YaHei"/>
              </a:defRPr>
            </a:pPr>
            <a:r>
              <a:rPr>
                <a:ea typeface="Microsoft YaHei"/>
              </a:rPr>
              <a:t>化学与几何</a:t>
            </a:r>
          </a:p>
        </p:txBody>
      </p:sp>
      <p:sp>
        <p:nvSpPr>
          <p:cNvPr id="12" name="Rounded Rectangle 11"/>
          <p:cNvSpPr/>
          <p:nvPr/>
        </p:nvSpPr>
        <p:spPr>
          <a:xfrm>
            <a:off x="3657600" y="1947672"/>
            <a:ext cx="3566160" cy="87782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0" y="2167128"/>
            <a:ext cx="3200400" cy="457200"/>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固定几何的取代模型</a:t>
            </a:r>
          </a:p>
        </p:txBody>
      </p:sp>
      <p:sp>
        <p:nvSpPr>
          <p:cNvPr id="14" name="Chevron 13"/>
          <p:cNvSpPr/>
          <p:nvPr/>
        </p:nvSpPr>
        <p:spPr>
          <a:xfrm>
            <a:off x="7424927" y="2221991"/>
            <a:ext cx="338328" cy="274320"/>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973568" y="1947672"/>
            <a:ext cx="3547872" cy="87782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65592" y="2167128"/>
            <a:ext cx="3163824" cy="457200"/>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充分弛豫的取代模型</a:t>
            </a:r>
          </a:p>
        </p:txBody>
      </p:sp>
      <p:sp>
        <p:nvSpPr>
          <p:cNvPr id="17" name="Oval 16"/>
          <p:cNvSpPr/>
          <p:nvPr/>
        </p:nvSpPr>
        <p:spPr>
          <a:xfrm>
            <a:off x="749808" y="3282696"/>
            <a:ext cx="457200" cy="457200"/>
          </a:xfrm>
          <a:prstGeom prst="ellipse">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328416"/>
            <a:ext cx="219456" cy="301752"/>
          </a:xfrm>
          <a:prstGeom prst="rect">
            <a:avLst/>
          </a:prstGeom>
          <a:noFill/>
        </p:spPr>
        <p:txBody>
          <a:bodyPr wrap="none" lIns="0" rIns="0" tIns="0" bIns="0" anchor="t">
            <a:spAutoFit/>
          </a:bodyPr>
          <a:lstStyle/>
          <a:p>
            <a:pPr>
              <a:lnSpc>
                <a:spcPct val="122000"/>
              </a:lnSpc>
              <a:spcBef>
                <a:spcPts val="0"/>
              </a:spcBef>
              <a:spcAft>
                <a:spcPts val="0"/>
              </a:spcAft>
              <a:defRPr sz="1500" b="1">
                <a:solidFill>
                  <a:srgbClr val="FFFFFF"/>
                </a:solidFill>
                <a:latin typeface="Microsoft YaHei"/>
              </a:defRPr>
            </a:pPr>
            <a:r>
              <a:rPr>
                <a:ea typeface="Microsoft YaHei"/>
              </a:rPr>
              <a:t>B</a:t>
            </a:r>
          </a:p>
        </p:txBody>
      </p:sp>
      <p:sp>
        <p:nvSpPr>
          <p:cNvPr id="19" name="TextBox 18"/>
          <p:cNvSpPr txBox="1"/>
          <p:nvPr/>
        </p:nvSpPr>
        <p:spPr>
          <a:xfrm>
            <a:off x="1435608" y="3346704"/>
            <a:ext cx="2057400" cy="457200"/>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22B3A"/>
                </a:solidFill>
                <a:latin typeface="Microsoft YaHei"/>
              </a:defRPr>
            </a:pPr>
            <a:r>
              <a:rPr>
                <a:ea typeface="Microsoft YaHei"/>
              </a:rPr>
              <a:t>质量与成键</a:t>
            </a:r>
          </a:p>
        </p:txBody>
      </p:sp>
      <p:sp>
        <p:nvSpPr>
          <p:cNvPr id="20" name="Rounded Rectangle 19"/>
          <p:cNvSpPr/>
          <p:nvPr/>
        </p:nvSpPr>
        <p:spPr>
          <a:xfrm>
            <a:off x="3657600" y="3163824"/>
            <a:ext cx="3566160" cy="87782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0" y="3383280"/>
            <a:ext cx="3200400" cy="457200"/>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仅改变原子质量</a:t>
            </a:r>
          </a:p>
        </p:txBody>
      </p:sp>
      <p:sp>
        <p:nvSpPr>
          <p:cNvPr id="22" name="Chevron 21"/>
          <p:cNvSpPr/>
          <p:nvPr/>
        </p:nvSpPr>
        <p:spPr>
          <a:xfrm>
            <a:off x="7424927" y="3438144"/>
            <a:ext cx="338328" cy="274320"/>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973568" y="3163824"/>
            <a:ext cx="3547872" cy="87782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5592" y="3383280"/>
            <a:ext cx="3163824" cy="457200"/>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改变力常数/成键响应</a:t>
            </a:r>
          </a:p>
        </p:txBody>
      </p:sp>
      <p:sp>
        <p:nvSpPr>
          <p:cNvPr id="25" name="Oval 24"/>
          <p:cNvSpPr/>
          <p:nvPr/>
        </p:nvSpPr>
        <p:spPr>
          <a:xfrm>
            <a:off x="749808" y="4498848"/>
            <a:ext cx="457200" cy="457200"/>
          </a:xfrm>
          <a:prstGeom prst="ellipse">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544568"/>
            <a:ext cx="219456" cy="301752"/>
          </a:xfrm>
          <a:prstGeom prst="rect">
            <a:avLst/>
          </a:prstGeom>
          <a:noFill/>
        </p:spPr>
        <p:txBody>
          <a:bodyPr wrap="none" lIns="0" rIns="0" tIns="0" bIns="0" anchor="t">
            <a:spAutoFit/>
          </a:bodyPr>
          <a:lstStyle/>
          <a:p>
            <a:pPr>
              <a:lnSpc>
                <a:spcPct val="122000"/>
              </a:lnSpc>
              <a:spcBef>
                <a:spcPts val="0"/>
              </a:spcBef>
              <a:spcAft>
                <a:spcPts val="0"/>
              </a:spcAft>
              <a:defRPr sz="1500" b="1">
                <a:solidFill>
                  <a:srgbClr val="FFFFFF"/>
                </a:solidFill>
                <a:latin typeface="Microsoft YaHei"/>
              </a:defRPr>
            </a:pPr>
            <a:r>
              <a:rPr>
                <a:ea typeface="Microsoft YaHei"/>
              </a:rPr>
              <a:t>C</a:t>
            </a:r>
          </a:p>
        </p:txBody>
      </p:sp>
      <p:sp>
        <p:nvSpPr>
          <p:cNvPr id="27" name="TextBox 26"/>
          <p:cNvSpPr txBox="1"/>
          <p:nvPr/>
        </p:nvSpPr>
        <p:spPr>
          <a:xfrm>
            <a:off x="1435608" y="4562856"/>
            <a:ext cx="2057400" cy="457200"/>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22B3A"/>
                </a:solidFill>
                <a:latin typeface="Microsoft YaHei"/>
              </a:defRPr>
            </a:pPr>
            <a:r>
              <a:rPr>
                <a:ea typeface="Microsoft YaHei"/>
              </a:rPr>
              <a:t>局域排列</a:t>
            </a:r>
          </a:p>
        </p:txBody>
      </p:sp>
      <p:sp>
        <p:nvSpPr>
          <p:cNvPr id="28" name="Rounded Rectangle 27"/>
          <p:cNvSpPr/>
          <p:nvPr/>
        </p:nvSpPr>
        <p:spPr>
          <a:xfrm>
            <a:off x="3657600" y="4379976"/>
            <a:ext cx="3566160" cy="87782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0" y="4599432"/>
            <a:ext cx="3200400" cy="457200"/>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近邻取代构型</a:t>
            </a:r>
          </a:p>
        </p:txBody>
      </p:sp>
      <p:sp>
        <p:nvSpPr>
          <p:cNvPr id="30" name="Chevron 29"/>
          <p:cNvSpPr/>
          <p:nvPr/>
        </p:nvSpPr>
        <p:spPr>
          <a:xfrm>
            <a:off x="7424927" y="4654296"/>
            <a:ext cx="338328" cy="274320"/>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973568" y="4379976"/>
            <a:ext cx="3547872" cy="87782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65592" y="4599432"/>
            <a:ext cx="3163824" cy="457200"/>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远离取代构型</a:t>
            </a:r>
          </a:p>
        </p:txBody>
      </p:sp>
      <p:sp>
        <p:nvSpPr>
          <p:cNvPr id="33" name="Rounded Rectangle 32"/>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FFFFFF"/>
                </a:solidFill>
                <a:latin typeface="Microsoft YaHei"/>
              </a:defRPr>
            </a:pPr>
            <a:r>
              <a:rPr>
                <a:ea typeface="Microsoft YaHei"/>
              </a:rPr>
              <a:t>输出：交互响应的来源、排序稳健性与失效构型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04 技术路线｜研究内容二</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电输运：用显式散射回应电导率可靠性问题</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恒定弛豫时间用于初筛，绝对性能结论必须受散射约束。</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方法依据：Madsen等，2018（BoltzTraP2）；Ganose等，2021（AMSET）。目标体系需验证适用性。</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11</a:t>
            </a:r>
          </a:p>
        </p:txBody>
      </p:sp>
      <p:sp>
        <p:nvSpPr>
          <p:cNvPr id="9" name="Rounded Rectangle 8"/>
          <p:cNvSpPr/>
          <p:nvPr/>
        </p:nvSpPr>
        <p:spPr>
          <a:xfrm>
            <a:off x="694944" y="1938528"/>
            <a:ext cx="3447288"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1938528"/>
            <a:ext cx="41148" cy="3456432"/>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12264"/>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一级｜初筛</a:t>
            </a:r>
          </a:p>
        </p:txBody>
      </p:sp>
      <p:sp>
        <p:nvSpPr>
          <p:cNvPr id="12" name="TextBox 11"/>
          <p:cNvSpPr txBox="1"/>
          <p:nvPr/>
        </p:nvSpPr>
        <p:spPr>
          <a:xfrm>
            <a:off x="896112" y="2642616"/>
            <a:ext cx="3044952"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效率优先，不等同绝对电导率</a:t>
            </a:r>
          </a:p>
        </p:txBody>
      </p:sp>
      <p:sp>
        <p:nvSpPr>
          <p:cNvPr id="13" name="TextBox 12"/>
          <p:cNvSpPr txBox="1"/>
          <p:nvPr/>
        </p:nvSpPr>
        <p:spPr>
          <a:xfrm>
            <a:off x="896112" y="3099816"/>
            <a:ext cx="3044952" cy="2185415"/>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BoltzTraP2能带插值</a:t>
            </a:r>
          </a:p>
          <a:p>
            <a:pPr>
              <a:lnSpc>
                <a:spcPct val="122000"/>
              </a:lnSpc>
              <a:spcBef>
                <a:spcPts val="0"/>
              </a:spcBef>
              <a:spcAft>
                <a:spcPts val="0"/>
              </a:spcAft>
              <a:defRPr sz="1900" b="0">
                <a:solidFill>
                  <a:srgbClr val="203946"/>
                </a:solidFill>
                <a:latin typeface="Microsoft YaHei"/>
              </a:defRPr>
            </a:pPr>
            <a:r>
              <a:rPr>
                <a:ea typeface="Microsoft YaHei"/>
              </a:rPr>
              <a:t>报告S、σ/τ等</a:t>
            </a:r>
          </a:p>
          <a:p>
            <a:pPr>
              <a:lnSpc>
                <a:spcPct val="122000"/>
              </a:lnSpc>
              <a:spcBef>
                <a:spcPts val="0"/>
              </a:spcBef>
              <a:spcAft>
                <a:spcPts val="0"/>
              </a:spcAft>
              <a:defRPr sz="1900" b="0">
                <a:solidFill>
                  <a:srgbClr val="203946"/>
                </a:solidFill>
                <a:latin typeface="Microsoft YaHei"/>
              </a:defRPr>
            </a:pPr>
            <a:r>
              <a:rPr>
                <a:ea typeface="Microsoft YaHei"/>
              </a:rPr>
              <a:t>限定刚带与恒定τ范围</a:t>
            </a:r>
          </a:p>
        </p:txBody>
      </p:sp>
      <p:sp>
        <p:nvSpPr>
          <p:cNvPr id="14" name="Rounded Rectangle 13"/>
          <p:cNvSpPr/>
          <p:nvPr/>
        </p:nvSpPr>
        <p:spPr>
          <a:xfrm>
            <a:off x="4370832" y="1938528"/>
            <a:ext cx="3447288"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0832" y="1938528"/>
            <a:ext cx="41148" cy="3456432"/>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112264"/>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二级｜代表构型</a:t>
            </a:r>
          </a:p>
        </p:txBody>
      </p:sp>
      <p:sp>
        <p:nvSpPr>
          <p:cNvPr id="17" name="TextBox 16"/>
          <p:cNvSpPr txBox="1"/>
          <p:nvPr/>
        </p:nvSpPr>
        <p:spPr>
          <a:xfrm>
            <a:off x="4572000" y="2642616"/>
            <a:ext cx="3044952"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AMSET或更直接的矩阵元</a:t>
            </a:r>
          </a:p>
        </p:txBody>
      </p:sp>
      <p:sp>
        <p:nvSpPr>
          <p:cNvPr id="18" name="TextBox 17"/>
          <p:cNvSpPr txBox="1"/>
          <p:nvPr/>
        </p:nvSpPr>
        <p:spPr>
          <a:xfrm>
            <a:off x="4572000" y="3099816"/>
            <a:ext cx="3044952" cy="2185415"/>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声学/离化杂质等散射</a:t>
            </a:r>
          </a:p>
          <a:p>
            <a:pPr>
              <a:lnSpc>
                <a:spcPct val="122000"/>
              </a:lnSpc>
              <a:spcBef>
                <a:spcPts val="0"/>
              </a:spcBef>
              <a:spcAft>
                <a:spcPts val="0"/>
              </a:spcAft>
              <a:defRPr sz="1900" b="0">
                <a:solidFill>
                  <a:srgbClr val="203946"/>
                </a:solidFill>
                <a:latin typeface="Microsoft YaHei"/>
              </a:defRPr>
            </a:pPr>
            <a:r>
              <a:rPr>
                <a:ea typeface="Microsoft YaHei"/>
              </a:rPr>
              <a:t>检查极性光学适用性</a:t>
            </a:r>
          </a:p>
          <a:p>
            <a:pPr>
              <a:lnSpc>
                <a:spcPct val="122000"/>
              </a:lnSpc>
              <a:spcBef>
                <a:spcPts val="0"/>
              </a:spcBef>
              <a:spcAft>
                <a:spcPts val="0"/>
              </a:spcAft>
              <a:defRPr sz="1900" b="0">
                <a:solidFill>
                  <a:srgbClr val="203946"/>
                </a:solidFill>
                <a:latin typeface="Microsoft YaHei"/>
              </a:defRPr>
            </a:pPr>
            <a:r>
              <a:rPr>
                <a:ea typeface="Microsoft YaHei"/>
              </a:rPr>
              <a:t>核查谷间与合金散射</a:t>
            </a:r>
          </a:p>
        </p:txBody>
      </p:sp>
      <p:sp>
        <p:nvSpPr>
          <p:cNvPr id="19" name="Rounded Rectangle 18"/>
          <p:cNvSpPr/>
          <p:nvPr/>
        </p:nvSpPr>
        <p:spPr>
          <a:xfrm>
            <a:off x="8046720" y="1938528"/>
            <a:ext cx="3447288"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1938528"/>
            <a:ext cx="41148" cy="3456432"/>
          </a:xfrm>
          <a:prstGeom prst="rect">
            <a:avLst/>
          </a:prstGeom>
          <a:solidFill>
            <a:srgbClr val="C57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2112264"/>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三级｜可靠结论</a:t>
            </a:r>
          </a:p>
        </p:txBody>
      </p:sp>
      <p:sp>
        <p:nvSpPr>
          <p:cNvPr id="22" name="TextBox 21"/>
          <p:cNvSpPr txBox="1"/>
          <p:nvPr/>
        </p:nvSpPr>
        <p:spPr>
          <a:xfrm>
            <a:off x="8247888" y="2642616"/>
            <a:ext cx="3044952"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C57B46"/>
                </a:solidFill>
                <a:latin typeface="Microsoft YaHei"/>
              </a:defRPr>
            </a:pPr>
            <a:r>
              <a:rPr>
                <a:ea typeface="Microsoft YaHei"/>
              </a:rPr>
              <a:t>比较PF、迁移率与敏感性</a:t>
            </a:r>
          </a:p>
        </p:txBody>
      </p:sp>
      <p:sp>
        <p:nvSpPr>
          <p:cNvPr id="23" name="TextBox 22"/>
          <p:cNvSpPr txBox="1"/>
          <p:nvPr/>
        </p:nvSpPr>
        <p:spPr>
          <a:xfrm>
            <a:off x="8247888" y="3099816"/>
            <a:ext cx="3044952" cy="2185415"/>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固定T、p机制比较</a:t>
            </a:r>
          </a:p>
          <a:p>
            <a:pPr>
              <a:lnSpc>
                <a:spcPct val="122000"/>
              </a:lnSpc>
              <a:spcBef>
                <a:spcPts val="0"/>
              </a:spcBef>
              <a:spcAft>
                <a:spcPts val="0"/>
              </a:spcAft>
              <a:defRPr sz="1900" b="0">
                <a:solidFill>
                  <a:srgbClr val="203946"/>
                </a:solidFill>
                <a:latin typeface="Microsoft YaHei"/>
              </a:defRPr>
            </a:pPr>
            <a:r>
              <a:rPr>
                <a:ea typeface="Microsoft YaHei"/>
              </a:rPr>
              <a:t>补偿与可达浓度约束</a:t>
            </a:r>
          </a:p>
          <a:p>
            <a:pPr>
              <a:lnSpc>
                <a:spcPct val="122000"/>
              </a:lnSpc>
              <a:spcBef>
                <a:spcPts val="0"/>
              </a:spcBef>
              <a:spcAft>
                <a:spcPts val="0"/>
              </a:spcAft>
              <a:defRPr sz="1900" b="0">
                <a:solidFill>
                  <a:srgbClr val="203946"/>
                </a:solidFill>
                <a:latin typeface="Microsoft YaHei"/>
              </a:defRPr>
            </a:pPr>
            <a:r>
              <a:rPr>
                <a:ea typeface="Microsoft YaHei"/>
              </a:rPr>
              <a:t>电子热导及双极输运一致</a:t>
            </a:r>
          </a:p>
        </p:txBody>
      </p:sp>
      <p:sp>
        <p:nvSpPr>
          <p:cNvPr id="24" name="Rounded Rectangle 23"/>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FFFFFF"/>
                </a:solidFill>
                <a:latin typeface="Microsoft YaHei"/>
              </a:defRPr>
            </a:pPr>
            <a:r>
              <a:rPr>
                <a:ea typeface="Microsoft YaHei"/>
              </a:rPr>
              <a:t>判据：带边收益经真实散射修正后，是否仍然成立？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04 技术路线｜研究内容三</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辅助热输运：少量构型检验热电意义</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不将声子机制、随机合金筛选或力场训练另设为独立研究主线。</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方法依据：Li等，2014（ShengBTE）；声子局域性不能仅由群速度降低判定。</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12</a:t>
            </a:r>
          </a:p>
        </p:txBody>
      </p:sp>
      <p:sp>
        <p:nvSpPr>
          <p:cNvPr id="9" name="Rounded Rectangle 8"/>
          <p:cNvSpPr/>
          <p:nvPr/>
        </p:nvSpPr>
        <p:spPr>
          <a:xfrm>
            <a:off x="694944" y="1938528"/>
            <a:ext cx="5266944" cy="343814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1938528"/>
            <a:ext cx="41148" cy="3438144"/>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12264"/>
            <a:ext cx="4873752"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限定任务范围</a:t>
            </a:r>
          </a:p>
        </p:txBody>
      </p:sp>
      <p:sp>
        <p:nvSpPr>
          <p:cNvPr id="12" name="TextBox 11"/>
          <p:cNvSpPr txBox="1"/>
          <p:nvPr/>
        </p:nvSpPr>
        <p:spPr>
          <a:xfrm>
            <a:off x="896112" y="2798064"/>
            <a:ext cx="4864607" cy="2468879"/>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母相＋3个代表性取代构型</a:t>
            </a:r>
          </a:p>
          <a:p>
            <a:pPr>
              <a:lnSpc>
                <a:spcPct val="122000"/>
              </a:lnSpc>
              <a:spcBef>
                <a:spcPts val="0"/>
              </a:spcBef>
              <a:spcAft>
                <a:spcPts val="0"/>
              </a:spcAft>
              <a:defRPr sz="2000" b="0">
                <a:solidFill>
                  <a:srgbClr val="203946"/>
                </a:solidFill>
                <a:latin typeface="Microsoft YaHei"/>
              </a:defRPr>
            </a:pPr>
            <a:r>
              <a:rPr>
                <a:ea typeface="Microsoft YaHei"/>
              </a:rPr>
              <a:t>二阶 / 三阶力常数 → 声子BTE</a:t>
            </a:r>
          </a:p>
          <a:p>
            <a:pPr>
              <a:lnSpc>
                <a:spcPct val="122000"/>
              </a:lnSpc>
              <a:spcBef>
                <a:spcPts val="0"/>
              </a:spcBef>
              <a:spcAft>
                <a:spcPts val="0"/>
              </a:spcAft>
              <a:defRPr sz="2000" b="0">
                <a:solidFill>
                  <a:srgbClr val="203946"/>
                </a:solidFill>
                <a:latin typeface="Microsoft YaHei"/>
              </a:defRPr>
            </a:pPr>
          </a:p>
          <a:p>
            <a:pPr>
              <a:lnSpc>
                <a:spcPct val="122000"/>
              </a:lnSpc>
              <a:spcBef>
                <a:spcPts val="0"/>
              </a:spcBef>
              <a:spcAft>
                <a:spcPts val="0"/>
              </a:spcAft>
              <a:defRPr sz="2000" b="0">
                <a:solidFill>
                  <a:srgbClr val="203946"/>
                </a:solidFill>
                <a:latin typeface="Microsoft YaHei"/>
              </a:defRPr>
            </a:pPr>
            <a:r>
              <a:rPr>
                <a:ea typeface="Microsoft YaHei"/>
              </a:rPr>
              <a:t>关注电输运结论的热电意义</a:t>
            </a:r>
          </a:p>
          <a:p>
            <a:pPr>
              <a:lnSpc>
                <a:spcPct val="122000"/>
              </a:lnSpc>
              <a:spcBef>
                <a:spcPts val="0"/>
              </a:spcBef>
              <a:spcAft>
                <a:spcPts val="0"/>
              </a:spcAft>
              <a:defRPr sz="2000" b="0">
                <a:solidFill>
                  <a:srgbClr val="203946"/>
                </a:solidFill>
                <a:latin typeface="Microsoft YaHei"/>
              </a:defRPr>
            </a:pPr>
            <a:r>
              <a:rPr>
                <a:ea typeface="Microsoft YaHei"/>
              </a:rPr>
              <a:t>保留必要的收敛与近似检验</a:t>
            </a:r>
          </a:p>
        </p:txBody>
      </p:sp>
      <p:sp>
        <p:nvSpPr>
          <p:cNvPr id="13" name="Rounded Rectangle 12"/>
          <p:cNvSpPr/>
          <p:nvPr/>
        </p:nvSpPr>
        <p:spPr>
          <a:xfrm>
            <a:off x="6190488" y="1938528"/>
            <a:ext cx="5312664" cy="3438144"/>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0488" y="1938528"/>
            <a:ext cx="41148" cy="3438144"/>
          </a:xfrm>
          <a:prstGeom prst="rect">
            <a:avLst/>
          </a:prstGeom>
          <a:solidFill>
            <a:srgbClr val="C57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1655" y="2112264"/>
            <a:ext cx="4919472"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控制辅助任务成本</a:t>
            </a:r>
          </a:p>
        </p:txBody>
      </p:sp>
      <p:sp>
        <p:nvSpPr>
          <p:cNvPr id="16" name="TextBox 15"/>
          <p:cNvSpPr txBox="1"/>
          <p:nvPr/>
        </p:nvSpPr>
        <p:spPr>
          <a:xfrm>
            <a:off x="6391655" y="2798064"/>
            <a:ext cx="4910327" cy="2468879"/>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说明周期结构与无序的边界</a:t>
            </a:r>
          </a:p>
          <a:p>
            <a:pPr>
              <a:lnSpc>
                <a:spcPct val="122000"/>
              </a:lnSpc>
              <a:spcBef>
                <a:spcPts val="0"/>
              </a:spcBef>
              <a:spcAft>
                <a:spcPts val="0"/>
              </a:spcAft>
              <a:defRPr sz="2000" b="0">
                <a:solidFill>
                  <a:srgbClr val="203946"/>
                </a:solidFill>
                <a:latin typeface="Microsoft YaHei"/>
              </a:defRPr>
            </a:pPr>
            <a:r>
              <a:rPr>
                <a:ea typeface="Microsoft YaHei"/>
              </a:rPr>
              <a:t>不重复计入散射</a:t>
            </a:r>
          </a:p>
          <a:p>
            <a:pPr>
              <a:lnSpc>
                <a:spcPct val="122000"/>
              </a:lnSpc>
              <a:spcBef>
                <a:spcPts val="0"/>
              </a:spcBef>
              <a:spcAft>
                <a:spcPts val="0"/>
              </a:spcAft>
              <a:defRPr sz="2000" b="0">
                <a:solidFill>
                  <a:srgbClr val="203946"/>
                </a:solidFill>
                <a:latin typeface="Microsoft YaHei"/>
              </a:defRPr>
            </a:pPr>
          </a:p>
          <a:p>
            <a:pPr>
              <a:lnSpc>
                <a:spcPct val="122000"/>
              </a:lnSpc>
              <a:spcBef>
                <a:spcPts val="0"/>
              </a:spcBef>
              <a:spcAft>
                <a:spcPts val="0"/>
              </a:spcAft>
              <a:defRPr sz="2000" b="0">
                <a:solidFill>
                  <a:srgbClr val="203946"/>
                </a:solidFill>
                <a:latin typeface="Microsoft YaHei"/>
              </a:defRPr>
            </a:pPr>
            <a:r>
              <a:rPr>
                <a:ea typeface="Microsoft YaHei"/>
              </a:rPr>
              <a:t>不训练新的机器学习力场</a:t>
            </a:r>
          </a:p>
          <a:p>
            <a:pPr>
              <a:lnSpc>
                <a:spcPct val="122000"/>
              </a:lnSpc>
              <a:spcBef>
                <a:spcPts val="0"/>
              </a:spcBef>
              <a:spcAft>
                <a:spcPts val="0"/>
              </a:spcAft>
              <a:defRPr sz="2000" b="0">
                <a:solidFill>
                  <a:srgbClr val="203946"/>
                </a:solidFill>
                <a:latin typeface="Microsoft YaHei"/>
              </a:defRPr>
            </a:pPr>
            <a:r>
              <a:rPr>
                <a:ea typeface="Microsoft YaHei"/>
              </a:rPr>
              <a:t>复杂情形仅做必要交叉检验</a:t>
            </a:r>
          </a:p>
        </p:txBody>
      </p:sp>
      <p:sp>
        <p:nvSpPr>
          <p:cNvPr id="17" name="Rounded Rectangle 16"/>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FFFFFF"/>
                </a:solidFill>
                <a:latin typeface="Microsoft YaHei"/>
              </a:defRPr>
            </a:pPr>
            <a:r>
              <a:rPr>
                <a:ea typeface="Microsoft YaHei"/>
              </a:rPr>
              <a:t>用途：评价散射机制结论的热电意义，不扩大为全参数优化</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04 技术路线｜小样本策略</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主动学习选择关键构型，不替代物理验证</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综述启示：数据质量、独立验证与源域相关性优先于模型复杂度。</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康鹏等，2026；Sheng等，2020；Li等，2023。综述案例不能当作本体系已验证精度。</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13</a:t>
            </a:r>
          </a:p>
        </p:txBody>
      </p:sp>
      <p:sp>
        <p:nvSpPr>
          <p:cNvPr id="9" name="Rounded Rectangle 8"/>
          <p:cNvSpPr/>
          <p:nvPr/>
        </p:nvSpPr>
        <p:spPr>
          <a:xfrm>
            <a:off x="694944" y="2057400"/>
            <a:ext cx="2532888" cy="2286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221992"/>
            <a:ext cx="2194560" cy="39319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17F80"/>
                </a:solidFill>
                <a:latin typeface="Microsoft YaHei"/>
              </a:defRPr>
            </a:pPr>
            <a:r>
              <a:rPr>
                <a:ea typeface="Microsoft YaHei"/>
              </a:rPr>
              <a:t>01</a:t>
            </a:r>
          </a:p>
        </p:txBody>
      </p:sp>
      <p:sp>
        <p:nvSpPr>
          <p:cNvPr id="11" name="TextBox 10"/>
          <p:cNvSpPr txBox="1"/>
          <p:nvPr/>
        </p:nvSpPr>
        <p:spPr>
          <a:xfrm>
            <a:off x="859536" y="2788920"/>
            <a:ext cx="2203704" cy="502920"/>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22B3A"/>
                </a:solidFill>
                <a:latin typeface="Microsoft YaHei"/>
              </a:defRPr>
            </a:pPr>
            <a:r>
              <a:rPr>
                <a:ea typeface="Microsoft YaHei"/>
              </a:rPr>
              <a:t>物理描述符</a:t>
            </a:r>
          </a:p>
        </p:txBody>
      </p:sp>
      <p:sp>
        <p:nvSpPr>
          <p:cNvPr id="12" name="TextBox 11"/>
          <p:cNvSpPr txBox="1"/>
          <p:nvPr/>
        </p:nvSpPr>
        <p:spPr>
          <a:xfrm>
            <a:off x="859536" y="3429000"/>
            <a:ext cx="2194560" cy="740664"/>
          </a:xfrm>
          <a:prstGeom prst="rect">
            <a:avLst/>
          </a:prstGeom>
          <a:noFill/>
        </p:spPr>
        <p:txBody>
          <a:bodyPr wrap="none" lIns="0" rIns="0" tIns="0" bIns="0" anchor="t">
            <a:spAutoFit/>
          </a:bodyPr>
          <a:lstStyle/>
          <a:p>
            <a:pPr>
              <a:lnSpc>
                <a:spcPct val="122000"/>
              </a:lnSpc>
              <a:spcBef>
                <a:spcPts val="0"/>
              </a:spcBef>
              <a:spcAft>
                <a:spcPts val="0"/>
              </a:spcAft>
              <a:defRPr sz="1600" b="0">
                <a:solidFill>
                  <a:srgbClr val="203946"/>
                </a:solidFill>
                <a:latin typeface="Microsoft YaHei"/>
              </a:defRPr>
            </a:pPr>
            <a:r>
              <a:rPr>
                <a:ea typeface="Microsoft YaHei"/>
              </a:rPr>
              <a:t>成分 / 质量差</a:t>
            </a:r>
          </a:p>
          <a:p>
            <a:pPr>
              <a:lnSpc>
                <a:spcPct val="122000"/>
              </a:lnSpc>
              <a:spcBef>
                <a:spcPts val="0"/>
              </a:spcBef>
              <a:spcAft>
                <a:spcPts val="0"/>
              </a:spcAft>
              <a:defRPr sz="1600" b="0">
                <a:solidFill>
                  <a:srgbClr val="203946"/>
                </a:solidFill>
                <a:latin typeface="Microsoft YaHei"/>
              </a:defRPr>
            </a:pPr>
            <a:r>
              <a:rPr>
                <a:ea typeface="Microsoft YaHei"/>
              </a:rPr>
              <a:t>键长 / 带边信息</a:t>
            </a:r>
          </a:p>
        </p:txBody>
      </p:sp>
      <p:sp>
        <p:nvSpPr>
          <p:cNvPr id="13" name="Chevron 12"/>
          <p:cNvSpPr/>
          <p:nvPr/>
        </p:nvSpPr>
        <p:spPr>
          <a:xfrm>
            <a:off x="3282696" y="3026664"/>
            <a:ext cx="155448" cy="237744"/>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56432" y="2057400"/>
            <a:ext cx="2532888" cy="2286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2221992"/>
            <a:ext cx="2194560" cy="39319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17F80"/>
                </a:solidFill>
                <a:latin typeface="Microsoft YaHei"/>
              </a:defRPr>
            </a:pPr>
            <a:r>
              <a:rPr>
                <a:ea typeface="Microsoft YaHei"/>
              </a:rPr>
              <a:t>02</a:t>
            </a:r>
          </a:p>
        </p:txBody>
      </p:sp>
      <p:sp>
        <p:nvSpPr>
          <p:cNvPr id="16" name="TextBox 15"/>
          <p:cNvSpPr txBox="1"/>
          <p:nvPr/>
        </p:nvSpPr>
        <p:spPr>
          <a:xfrm>
            <a:off x="3621024" y="2788920"/>
            <a:ext cx="2203704" cy="502920"/>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22B3A"/>
                </a:solidFill>
                <a:latin typeface="Microsoft YaHei"/>
              </a:defRPr>
            </a:pPr>
            <a:r>
              <a:rPr>
                <a:ea typeface="Microsoft YaHei"/>
              </a:rPr>
              <a:t>小样本基线</a:t>
            </a:r>
          </a:p>
        </p:txBody>
      </p:sp>
      <p:sp>
        <p:nvSpPr>
          <p:cNvPr id="17" name="TextBox 16"/>
          <p:cNvSpPr txBox="1"/>
          <p:nvPr/>
        </p:nvSpPr>
        <p:spPr>
          <a:xfrm>
            <a:off x="3621024" y="3429000"/>
            <a:ext cx="2194560" cy="740664"/>
          </a:xfrm>
          <a:prstGeom prst="rect">
            <a:avLst/>
          </a:prstGeom>
          <a:noFill/>
        </p:spPr>
        <p:txBody>
          <a:bodyPr wrap="none" lIns="0" rIns="0" tIns="0" bIns="0" anchor="t">
            <a:spAutoFit/>
          </a:bodyPr>
          <a:lstStyle/>
          <a:p>
            <a:pPr>
              <a:lnSpc>
                <a:spcPct val="122000"/>
              </a:lnSpc>
              <a:spcBef>
                <a:spcPts val="0"/>
              </a:spcBef>
              <a:spcAft>
                <a:spcPts val="0"/>
              </a:spcAft>
              <a:defRPr sz="1600" b="0">
                <a:solidFill>
                  <a:srgbClr val="203946"/>
                </a:solidFill>
                <a:latin typeface="Microsoft YaHei"/>
              </a:defRPr>
            </a:pPr>
            <a:r>
              <a:rPr>
                <a:ea typeface="Microsoft YaHei"/>
              </a:rPr>
              <a:t>GPR与随机森林</a:t>
            </a:r>
          </a:p>
          <a:p>
            <a:pPr>
              <a:lnSpc>
                <a:spcPct val="122000"/>
              </a:lnSpc>
              <a:spcBef>
                <a:spcPts val="0"/>
              </a:spcBef>
              <a:spcAft>
                <a:spcPts val="0"/>
              </a:spcAft>
              <a:defRPr sz="1600" b="0">
                <a:solidFill>
                  <a:srgbClr val="203946"/>
                </a:solidFill>
                <a:latin typeface="Microsoft YaHei"/>
              </a:defRPr>
            </a:pPr>
            <a:r>
              <a:rPr>
                <a:ea typeface="Microsoft YaHei"/>
              </a:rPr>
              <a:t>分层标签与分组验证</a:t>
            </a:r>
          </a:p>
        </p:txBody>
      </p:sp>
      <p:sp>
        <p:nvSpPr>
          <p:cNvPr id="18" name="Chevron 17"/>
          <p:cNvSpPr/>
          <p:nvPr/>
        </p:nvSpPr>
        <p:spPr>
          <a:xfrm>
            <a:off x="6044184" y="3026664"/>
            <a:ext cx="155448" cy="237744"/>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20" y="2057400"/>
            <a:ext cx="2532888" cy="2286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221992"/>
            <a:ext cx="2194560" cy="39319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17F80"/>
                </a:solidFill>
                <a:latin typeface="Microsoft YaHei"/>
              </a:defRPr>
            </a:pPr>
            <a:r>
              <a:rPr>
                <a:ea typeface="Microsoft YaHei"/>
              </a:rPr>
              <a:t>03</a:t>
            </a:r>
          </a:p>
        </p:txBody>
      </p:sp>
      <p:sp>
        <p:nvSpPr>
          <p:cNvPr id="21" name="TextBox 20"/>
          <p:cNvSpPr txBox="1"/>
          <p:nvPr/>
        </p:nvSpPr>
        <p:spPr>
          <a:xfrm>
            <a:off x="6382512" y="2788920"/>
            <a:ext cx="2203704" cy="502920"/>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22B3A"/>
                </a:solidFill>
                <a:latin typeface="Microsoft YaHei"/>
              </a:defRPr>
            </a:pPr>
            <a:r>
              <a:rPr>
                <a:ea typeface="Microsoft YaHei"/>
              </a:rPr>
              <a:t>不确定性选点</a:t>
            </a:r>
          </a:p>
        </p:txBody>
      </p:sp>
      <p:sp>
        <p:nvSpPr>
          <p:cNvPr id="22" name="TextBox 21"/>
          <p:cNvSpPr txBox="1"/>
          <p:nvPr/>
        </p:nvSpPr>
        <p:spPr>
          <a:xfrm>
            <a:off x="6382512" y="3429000"/>
            <a:ext cx="2194560" cy="740664"/>
          </a:xfrm>
          <a:prstGeom prst="rect">
            <a:avLst/>
          </a:prstGeom>
          <a:noFill/>
        </p:spPr>
        <p:txBody>
          <a:bodyPr wrap="none" lIns="0" rIns="0" tIns="0" bIns="0" anchor="t">
            <a:spAutoFit/>
          </a:bodyPr>
          <a:lstStyle/>
          <a:p>
            <a:pPr>
              <a:lnSpc>
                <a:spcPct val="122000"/>
              </a:lnSpc>
              <a:spcBef>
                <a:spcPts val="0"/>
              </a:spcBef>
              <a:spcAft>
                <a:spcPts val="0"/>
              </a:spcAft>
              <a:defRPr sz="1600" b="0">
                <a:solidFill>
                  <a:srgbClr val="203946"/>
                </a:solidFill>
                <a:latin typeface="Microsoft YaHei"/>
              </a:defRPr>
            </a:pPr>
            <a:r>
              <a:rPr>
                <a:ea typeface="Microsoft YaHei"/>
              </a:rPr>
              <a:t>模型分歧</a:t>
            </a:r>
          </a:p>
          <a:p>
            <a:pPr>
              <a:lnSpc>
                <a:spcPct val="122000"/>
              </a:lnSpc>
              <a:spcBef>
                <a:spcPts val="0"/>
              </a:spcBef>
              <a:spcAft>
                <a:spcPts val="0"/>
              </a:spcAft>
              <a:defRPr sz="1600" b="0">
                <a:solidFill>
                  <a:srgbClr val="203946"/>
                </a:solidFill>
                <a:latin typeface="Microsoft YaHei"/>
              </a:defRPr>
            </a:pPr>
            <a:r>
              <a:rPr>
                <a:ea typeface="Microsoft YaHei"/>
              </a:rPr>
              <a:t>稳定性边界与反例</a:t>
            </a:r>
          </a:p>
        </p:txBody>
      </p:sp>
      <p:sp>
        <p:nvSpPr>
          <p:cNvPr id="23" name="Chevron 22"/>
          <p:cNvSpPr/>
          <p:nvPr/>
        </p:nvSpPr>
        <p:spPr>
          <a:xfrm>
            <a:off x="8805672" y="3026664"/>
            <a:ext cx="155448" cy="237744"/>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979408" y="2057400"/>
            <a:ext cx="2532888" cy="22860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0" y="2221992"/>
            <a:ext cx="2194560" cy="39319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17F80"/>
                </a:solidFill>
                <a:latin typeface="Microsoft YaHei"/>
              </a:defRPr>
            </a:pPr>
            <a:r>
              <a:rPr>
                <a:ea typeface="Microsoft YaHei"/>
              </a:rPr>
              <a:t>04</a:t>
            </a:r>
          </a:p>
        </p:txBody>
      </p:sp>
      <p:sp>
        <p:nvSpPr>
          <p:cNvPr id="26" name="TextBox 25"/>
          <p:cNvSpPr txBox="1"/>
          <p:nvPr/>
        </p:nvSpPr>
        <p:spPr>
          <a:xfrm>
            <a:off x="9144000" y="2788920"/>
            <a:ext cx="2203704" cy="502920"/>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22B3A"/>
                </a:solidFill>
                <a:latin typeface="Microsoft YaHei"/>
              </a:defRPr>
            </a:pPr>
            <a:r>
              <a:rPr>
                <a:ea typeface="Microsoft YaHei"/>
              </a:rPr>
              <a:t>独立DFT回证</a:t>
            </a:r>
          </a:p>
        </p:txBody>
      </p:sp>
      <p:sp>
        <p:nvSpPr>
          <p:cNvPr id="27" name="TextBox 26"/>
          <p:cNvSpPr txBox="1"/>
          <p:nvPr/>
        </p:nvSpPr>
        <p:spPr>
          <a:xfrm>
            <a:off x="9144000" y="3429000"/>
            <a:ext cx="2194560" cy="740664"/>
          </a:xfrm>
          <a:prstGeom prst="rect">
            <a:avLst/>
          </a:prstGeom>
          <a:noFill/>
        </p:spPr>
        <p:txBody>
          <a:bodyPr wrap="none" lIns="0" rIns="0" tIns="0" bIns="0" anchor="t">
            <a:spAutoFit/>
          </a:bodyPr>
          <a:lstStyle/>
          <a:p>
            <a:pPr>
              <a:lnSpc>
                <a:spcPct val="122000"/>
              </a:lnSpc>
              <a:spcBef>
                <a:spcPts val="0"/>
              </a:spcBef>
              <a:spcAft>
                <a:spcPts val="0"/>
              </a:spcAft>
              <a:defRPr sz="1600" b="0">
                <a:solidFill>
                  <a:srgbClr val="203946"/>
                </a:solidFill>
                <a:latin typeface="Microsoft YaHei"/>
              </a:defRPr>
            </a:pPr>
            <a:r>
              <a:rPr>
                <a:ea typeface="Microsoft YaHei"/>
              </a:rPr>
              <a:t>更新机制判断</a:t>
            </a:r>
          </a:p>
          <a:p>
            <a:pPr>
              <a:lnSpc>
                <a:spcPct val="122000"/>
              </a:lnSpc>
              <a:spcBef>
                <a:spcPts val="0"/>
              </a:spcBef>
              <a:spcAft>
                <a:spcPts val="0"/>
              </a:spcAft>
              <a:defRPr sz="1600" b="0">
                <a:solidFill>
                  <a:srgbClr val="203946"/>
                </a:solidFill>
                <a:latin typeface="Microsoft YaHei"/>
              </a:defRPr>
            </a:pPr>
            <a:r>
              <a:rPr>
                <a:ea typeface="Microsoft YaHei"/>
              </a:rPr>
              <a:t>保留失败与偏差</a:t>
            </a:r>
          </a:p>
        </p:txBody>
      </p:sp>
      <p:sp>
        <p:nvSpPr>
          <p:cNvPr id="28" name="Rounded Rectangle 27"/>
          <p:cNvSpPr/>
          <p:nvPr/>
        </p:nvSpPr>
        <p:spPr>
          <a:xfrm>
            <a:off x="694944" y="4681728"/>
            <a:ext cx="10817352" cy="667512"/>
          </a:xfrm>
          <a:prstGeom prst="roundRect">
            <a:avLst>
              <a:gd name="adj" fmla="val 10000"/>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5256" y="4828032"/>
            <a:ext cx="10332720" cy="402336"/>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117F80"/>
                </a:solidFill>
                <a:latin typeface="Microsoft YaHei"/>
              </a:defRPr>
            </a:pPr>
            <a:r>
              <a:rPr>
                <a:ea typeface="Microsoft YaHei"/>
              </a:rPr>
              <a:t>防泄漏：同构型的多温度/浓度数据归同组；独立组分测试</a:t>
            </a:r>
          </a:p>
        </p:txBody>
      </p:sp>
      <p:sp>
        <p:nvSpPr>
          <p:cNvPr id="30" name="Rounded Rectangle 29"/>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1800" b="1">
                <a:solidFill>
                  <a:srgbClr val="FFFFFF"/>
                </a:solidFill>
                <a:latin typeface="Microsoft YaHei"/>
              </a:defRPr>
            </a:pPr>
            <a:r>
              <a:rPr>
                <a:ea typeface="Microsoft YaHei"/>
              </a:rPr>
              <a:t>最多3轮；机制判断稳定或预算耗尽即停止，失效时回到覆盖采样</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04 技术路线｜总体</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技术路线：局域畸变—显式散射—功率因子</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每一步对应明确输入、方法和可审查输出。</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14</a:t>
            </a:r>
          </a:p>
        </p:txBody>
      </p:sp>
      <p:sp>
        <p:nvSpPr>
          <p:cNvPr id="9" name="Rounded Rectangle 8"/>
          <p:cNvSpPr/>
          <p:nvPr/>
        </p:nvSpPr>
        <p:spPr>
          <a:xfrm>
            <a:off x="694944" y="1938528"/>
            <a:ext cx="3447288" cy="13258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03120"/>
            <a:ext cx="3017520" cy="457200"/>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基准与约束</a:t>
            </a:r>
          </a:p>
        </p:txBody>
      </p:sp>
      <p:sp>
        <p:nvSpPr>
          <p:cNvPr id="11" name="TextBox 10"/>
          <p:cNvSpPr txBox="1"/>
          <p:nvPr/>
        </p:nvSpPr>
        <p:spPr>
          <a:xfrm>
            <a:off x="896112" y="2715768"/>
            <a:ext cx="3035808" cy="384048"/>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文献 / 母相 / 稳定性</a:t>
            </a:r>
          </a:p>
        </p:txBody>
      </p:sp>
      <p:sp>
        <p:nvSpPr>
          <p:cNvPr id="12" name="Chevron 11"/>
          <p:cNvSpPr/>
          <p:nvPr/>
        </p:nvSpPr>
        <p:spPr>
          <a:xfrm>
            <a:off x="4178808" y="2432304"/>
            <a:ext cx="146304" cy="265176"/>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0831" y="1938528"/>
            <a:ext cx="3447288" cy="13258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1999" y="2103120"/>
            <a:ext cx="3017520" cy="457200"/>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四组配对</a:t>
            </a:r>
          </a:p>
        </p:txBody>
      </p:sp>
      <p:sp>
        <p:nvSpPr>
          <p:cNvPr id="15" name="TextBox 14"/>
          <p:cNvSpPr txBox="1"/>
          <p:nvPr/>
        </p:nvSpPr>
        <p:spPr>
          <a:xfrm>
            <a:off x="4571999" y="2715768"/>
            <a:ext cx="3035808" cy="384048"/>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母相 / 两单取代 / 双取代</a:t>
            </a:r>
          </a:p>
        </p:txBody>
      </p:sp>
      <p:sp>
        <p:nvSpPr>
          <p:cNvPr id="16" name="Chevron 15"/>
          <p:cNvSpPr/>
          <p:nvPr/>
        </p:nvSpPr>
        <p:spPr>
          <a:xfrm>
            <a:off x="7854696" y="2432304"/>
            <a:ext cx="146304" cy="265176"/>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046719" y="1938528"/>
            <a:ext cx="3447288" cy="13258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103120"/>
            <a:ext cx="3017520" cy="457200"/>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代表构型精算</a:t>
            </a:r>
          </a:p>
        </p:txBody>
      </p:sp>
      <p:sp>
        <p:nvSpPr>
          <p:cNvPr id="19" name="TextBox 18"/>
          <p:cNvSpPr txBox="1"/>
          <p:nvPr/>
        </p:nvSpPr>
        <p:spPr>
          <a:xfrm>
            <a:off x="8247888" y="2715768"/>
            <a:ext cx="3035808" cy="384048"/>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带边态 + 显式载流子散射</a:t>
            </a:r>
          </a:p>
        </p:txBody>
      </p:sp>
      <p:cxnSp>
        <p:nvCxnSpPr>
          <p:cNvPr id="20" name="Connector 19"/>
          <p:cNvCxnSpPr/>
          <p:nvPr/>
        </p:nvCxnSpPr>
        <p:spPr>
          <a:xfrm>
            <a:off x="9765792" y="3319272"/>
            <a:ext cx="0" cy="512063"/>
          </a:xfrm>
          <a:prstGeom prst="line">
            <a:avLst/>
          </a:prstGeom>
          <a:ln w="25400">
            <a:solidFill>
              <a:srgbClr val="117F80"/>
            </a:solidFill>
          </a:ln>
        </p:spPr>
        <p:style>
          <a:lnRef idx="2">
            <a:schemeClr val="accent1"/>
          </a:lnRef>
          <a:fillRef idx="0">
            <a:schemeClr val="accent1"/>
          </a:fillRef>
          <a:effectRef idx="1">
            <a:schemeClr val="accent1"/>
          </a:effectRef>
          <a:fontRef idx="minor">
            <a:schemeClr val="tx1"/>
          </a:fontRef>
        </p:style>
      </p:cxnSp>
      <p:sp>
        <p:nvSpPr>
          <p:cNvPr id="21" name="Chevron 20"/>
          <p:cNvSpPr/>
          <p:nvPr/>
        </p:nvSpPr>
        <p:spPr>
          <a:xfrm>
            <a:off x="9619488" y="3785615"/>
            <a:ext cx="274320" cy="201168"/>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94944" y="4133087"/>
            <a:ext cx="7114032" cy="1234440"/>
          </a:xfrm>
          <a:prstGeom prst="roundRect">
            <a:avLst>
              <a:gd name="adj" fmla="val 10000"/>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325112"/>
            <a:ext cx="6629400" cy="475488"/>
          </a:xfrm>
          <a:prstGeom prst="rect">
            <a:avLst/>
          </a:prstGeom>
          <a:noFill/>
        </p:spPr>
        <p:txBody>
          <a:bodyPr wrap="none" lIns="0" rIns="0" tIns="0" bIns="0" anchor="t">
            <a:spAutoFit/>
          </a:bodyPr>
          <a:lstStyle/>
          <a:p>
            <a:pPr>
              <a:lnSpc>
                <a:spcPct val="122000"/>
              </a:lnSpc>
              <a:spcBef>
                <a:spcPts val="0"/>
              </a:spcBef>
              <a:spcAft>
                <a:spcPts val="0"/>
              </a:spcAft>
              <a:defRPr sz="2400" b="1">
                <a:solidFill>
                  <a:srgbClr val="117F80"/>
                </a:solidFill>
                <a:latin typeface="Microsoft YaHei"/>
              </a:defRPr>
            </a:pPr>
            <a:r>
              <a:rPr>
                <a:ea typeface="Microsoft YaHei"/>
              </a:rPr>
              <a:t>化学/几何分解 + 独立构型与缺陷检验</a:t>
            </a:r>
          </a:p>
        </p:txBody>
      </p:sp>
      <p:sp>
        <p:nvSpPr>
          <p:cNvPr id="24" name="TextBox 23"/>
          <p:cNvSpPr txBox="1"/>
          <p:nvPr/>
        </p:nvSpPr>
        <p:spPr>
          <a:xfrm>
            <a:off x="932688" y="4910328"/>
            <a:ext cx="6601968" cy="393192"/>
          </a:xfrm>
          <a:prstGeom prst="rect">
            <a:avLst/>
          </a:prstGeom>
          <a:noFill/>
        </p:spPr>
        <p:txBody>
          <a:bodyPr wrap="none" lIns="0" rIns="0" tIns="0" bIns="0" anchor="t">
            <a:spAutoFit/>
          </a:bodyPr>
          <a:lstStyle/>
          <a:p>
            <a:pPr>
              <a:lnSpc>
                <a:spcPct val="122000"/>
              </a:lnSpc>
              <a:spcBef>
                <a:spcPts val="0"/>
              </a:spcBef>
              <a:spcAft>
                <a:spcPts val="0"/>
              </a:spcAft>
              <a:defRPr sz="1700" b="0">
                <a:solidFill>
                  <a:srgbClr val="203946"/>
                </a:solidFill>
                <a:latin typeface="Microsoft YaHei"/>
              </a:defRPr>
            </a:pPr>
            <a:r>
              <a:rPr>
                <a:ea typeface="Microsoft YaHei"/>
              </a:rPr>
              <a:t>散射作用路径 / PF变化条件 / 少量热输运约束</a:t>
            </a:r>
          </a:p>
        </p:txBody>
      </p:sp>
      <p:sp>
        <p:nvSpPr>
          <p:cNvPr id="25" name="Rounded Rectangle 24"/>
          <p:cNvSpPr/>
          <p:nvPr/>
        </p:nvSpPr>
        <p:spPr>
          <a:xfrm>
            <a:off x="8046720" y="4133087"/>
            <a:ext cx="3447288" cy="12344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47888" y="4352544"/>
            <a:ext cx="3035808" cy="475488"/>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主动学习补充选点</a:t>
            </a:r>
          </a:p>
        </p:txBody>
      </p:sp>
      <p:sp>
        <p:nvSpPr>
          <p:cNvPr id="27" name="TextBox 26"/>
          <p:cNvSpPr txBox="1"/>
          <p:nvPr/>
        </p:nvSpPr>
        <p:spPr>
          <a:xfrm>
            <a:off x="8247888" y="4937760"/>
            <a:ext cx="3035808" cy="310896"/>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647783"/>
                </a:solidFill>
                <a:latin typeface="Microsoft YaHei"/>
              </a:defRPr>
            </a:pPr>
            <a:r>
              <a:rPr>
                <a:ea typeface="Microsoft YaHei"/>
              </a:rPr>
              <a:t>不确定性与机制需求共同驱动</a:t>
            </a:r>
          </a:p>
        </p:txBody>
      </p:sp>
      <p:sp>
        <p:nvSpPr>
          <p:cNvPr id="28" name="Rounded Rectangle 27"/>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2000" b="1">
                <a:solidFill>
                  <a:srgbClr val="FFFFFF"/>
                </a:solidFill>
                <a:latin typeface="Microsoft YaHei"/>
              </a:defRPr>
            </a:pPr>
            <a:r>
              <a:rPr>
                <a:ea typeface="Microsoft YaHei"/>
              </a:rPr>
              <a:t>任何关键解释，都能追溯到对照构型、输入参数和独立计算</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05 特色与创新</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两条创新，围绕同一载流子散射主线</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创新围绕可检验的局域结构—载流子散射联系展开。</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15</a:t>
            </a:r>
          </a:p>
        </p:txBody>
      </p:sp>
      <p:sp>
        <p:nvSpPr>
          <p:cNvPr id="9" name="TextBox 8"/>
          <p:cNvSpPr txBox="1"/>
          <p:nvPr/>
        </p:nvSpPr>
        <p:spPr>
          <a:xfrm>
            <a:off x="713232" y="2148840"/>
            <a:ext cx="777240" cy="566928"/>
          </a:xfrm>
          <a:prstGeom prst="rect">
            <a:avLst/>
          </a:prstGeom>
          <a:noFill/>
        </p:spPr>
        <p:txBody>
          <a:bodyPr wrap="none" lIns="0" rIns="0" tIns="0" bIns="0" anchor="t">
            <a:spAutoFit/>
          </a:bodyPr>
          <a:lstStyle/>
          <a:p>
            <a:pPr>
              <a:lnSpc>
                <a:spcPct val="122000"/>
              </a:lnSpc>
              <a:spcBef>
                <a:spcPts val="0"/>
              </a:spcBef>
              <a:spcAft>
                <a:spcPts val="0"/>
              </a:spcAft>
              <a:defRPr sz="3200" b="1">
                <a:solidFill>
                  <a:srgbClr val="117F80"/>
                </a:solidFill>
                <a:latin typeface="Microsoft YaHei"/>
              </a:defRPr>
            </a:pPr>
            <a:r>
              <a:rPr>
                <a:ea typeface="Microsoft YaHei"/>
              </a:rPr>
              <a:t>01</a:t>
            </a:r>
          </a:p>
        </p:txBody>
      </p:sp>
      <p:sp>
        <p:nvSpPr>
          <p:cNvPr id="10" name="TextBox 9"/>
          <p:cNvSpPr txBox="1"/>
          <p:nvPr/>
        </p:nvSpPr>
        <p:spPr>
          <a:xfrm>
            <a:off x="1746504" y="2157984"/>
            <a:ext cx="9418320" cy="475488"/>
          </a:xfrm>
          <a:prstGeom prst="rect">
            <a:avLst/>
          </a:prstGeom>
          <a:noFill/>
        </p:spPr>
        <p:txBody>
          <a:bodyPr wrap="none" lIns="0" rIns="0" tIns="0" bIns="0" anchor="t">
            <a:spAutoFit/>
          </a:bodyPr>
          <a:lstStyle/>
          <a:p>
            <a:pPr>
              <a:lnSpc>
                <a:spcPct val="122000"/>
              </a:lnSpc>
              <a:spcBef>
                <a:spcPts val="0"/>
              </a:spcBef>
              <a:spcAft>
                <a:spcPts val="0"/>
              </a:spcAft>
              <a:defRPr sz="2300" b="1">
                <a:solidFill>
                  <a:srgbClr val="122B3A"/>
                </a:solidFill>
                <a:latin typeface="Microsoft YaHei"/>
              </a:defRPr>
            </a:pPr>
            <a:r>
              <a:rPr>
                <a:ea typeface="Microsoft YaHei"/>
              </a:rPr>
              <a:t>识别畸变影响散射的微观路径</a:t>
            </a:r>
          </a:p>
        </p:txBody>
      </p:sp>
      <p:sp>
        <p:nvSpPr>
          <p:cNvPr id="11" name="TextBox 10"/>
          <p:cNvSpPr txBox="1"/>
          <p:nvPr/>
        </p:nvSpPr>
        <p:spPr>
          <a:xfrm>
            <a:off x="1764792" y="2779776"/>
            <a:ext cx="9326880" cy="493776"/>
          </a:xfrm>
          <a:prstGeom prst="rect">
            <a:avLst/>
          </a:prstGeom>
          <a:noFill/>
        </p:spPr>
        <p:txBody>
          <a:bodyPr wrap="none" lIns="0" rIns="0" tIns="0" bIns="0" anchor="t">
            <a:spAutoFit/>
          </a:bodyPr>
          <a:lstStyle/>
          <a:p>
            <a:pPr>
              <a:lnSpc>
                <a:spcPct val="122000"/>
              </a:lnSpc>
              <a:spcBef>
                <a:spcPts val="0"/>
              </a:spcBef>
              <a:spcAft>
                <a:spcPts val="0"/>
              </a:spcAft>
              <a:defRPr sz="1800" b="0">
                <a:solidFill>
                  <a:srgbClr val="647783"/>
                </a:solidFill>
                <a:latin typeface="Microsoft YaHei"/>
              </a:defRPr>
            </a:pPr>
            <a:r>
              <a:rPr>
                <a:ea typeface="Microsoft YaHei"/>
              </a:rPr>
              <a:t>通过化学取代与结构弛豫对照，识别局域排列、带边态与散射的联系。</a:t>
            </a:r>
          </a:p>
        </p:txBody>
      </p:sp>
      <p:sp>
        <p:nvSpPr>
          <p:cNvPr id="12" name="TextBox 11"/>
          <p:cNvSpPr txBox="1"/>
          <p:nvPr/>
        </p:nvSpPr>
        <p:spPr>
          <a:xfrm>
            <a:off x="713232" y="3794760"/>
            <a:ext cx="777240" cy="566928"/>
          </a:xfrm>
          <a:prstGeom prst="rect">
            <a:avLst/>
          </a:prstGeom>
          <a:noFill/>
        </p:spPr>
        <p:txBody>
          <a:bodyPr wrap="none" lIns="0" rIns="0" tIns="0" bIns="0" anchor="t">
            <a:spAutoFit/>
          </a:bodyPr>
          <a:lstStyle/>
          <a:p>
            <a:pPr>
              <a:lnSpc>
                <a:spcPct val="122000"/>
              </a:lnSpc>
              <a:spcBef>
                <a:spcPts val="0"/>
              </a:spcBef>
              <a:spcAft>
                <a:spcPts val="0"/>
              </a:spcAft>
              <a:defRPr sz="3200" b="1">
                <a:solidFill>
                  <a:srgbClr val="117F80"/>
                </a:solidFill>
                <a:latin typeface="Microsoft YaHei"/>
              </a:defRPr>
            </a:pPr>
            <a:r>
              <a:rPr>
                <a:ea typeface="Microsoft YaHei"/>
              </a:rPr>
              <a:t>02</a:t>
            </a:r>
          </a:p>
        </p:txBody>
      </p:sp>
      <p:sp>
        <p:nvSpPr>
          <p:cNvPr id="13" name="TextBox 12"/>
          <p:cNvSpPr txBox="1"/>
          <p:nvPr/>
        </p:nvSpPr>
        <p:spPr>
          <a:xfrm>
            <a:off x="1746504" y="3803904"/>
            <a:ext cx="9418320" cy="475488"/>
          </a:xfrm>
          <a:prstGeom prst="rect">
            <a:avLst/>
          </a:prstGeom>
          <a:noFill/>
        </p:spPr>
        <p:txBody>
          <a:bodyPr wrap="none" lIns="0" rIns="0" tIns="0" bIns="0" anchor="t">
            <a:spAutoFit/>
          </a:bodyPr>
          <a:lstStyle/>
          <a:p>
            <a:pPr>
              <a:lnSpc>
                <a:spcPct val="122000"/>
              </a:lnSpc>
              <a:spcBef>
                <a:spcPts val="0"/>
              </a:spcBef>
              <a:spcAft>
                <a:spcPts val="0"/>
              </a:spcAft>
              <a:defRPr sz="2300" b="1">
                <a:solidFill>
                  <a:srgbClr val="122B3A"/>
                </a:solidFill>
                <a:latin typeface="Microsoft YaHei"/>
              </a:defRPr>
            </a:pPr>
            <a:r>
              <a:rPr>
                <a:ea typeface="Microsoft YaHei"/>
              </a:rPr>
              <a:t>揭示带边收益保留或抵消的条件</a:t>
            </a:r>
          </a:p>
        </p:txBody>
      </p:sp>
      <p:sp>
        <p:nvSpPr>
          <p:cNvPr id="14" name="TextBox 13"/>
          <p:cNvSpPr txBox="1"/>
          <p:nvPr/>
        </p:nvSpPr>
        <p:spPr>
          <a:xfrm>
            <a:off x="1764792" y="4425696"/>
            <a:ext cx="9326880" cy="493776"/>
          </a:xfrm>
          <a:prstGeom prst="rect">
            <a:avLst/>
          </a:prstGeom>
          <a:noFill/>
        </p:spPr>
        <p:txBody>
          <a:bodyPr wrap="none" lIns="0" rIns="0" tIns="0" bIns="0" anchor="t">
            <a:spAutoFit/>
          </a:bodyPr>
          <a:lstStyle/>
          <a:p>
            <a:pPr>
              <a:lnSpc>
                <a:spcPct val="122000"/>
              </a:lnSpc>
              <a:spcBef>
                <a:spcPts val="0"/>
              </a:spcBef>
              <a:spcAft>
                <a:spcPts val="0"/>
              </a:spcAft>
              <a:defRPr sz="1800" b="0">
                <a:solidFill>
                  <a:srgbClr val="647783"/>
                </a:solidFill>
                <a:latin typeface="Microsoft YaHei"/>
              </a:defRPr>
            </a:pPr>
            <a:r>
              <a:rPr>
                <a:ea typeface="Microsoft YaHei"/>
              </a:rPr>
              <a:t>在显式散射与缺陷补偿约束下，检验迁移率和功率因子的变化。</a:t>
            </a:r>
          </a:p>
        </p:txBody>
      </p:sp>
      <p:sp>
        <p:nvSpPr>
          <p:cNvPr id="15" name="Rounded Rectangle 14"/>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1900" b="1">
                <a:solidFill>
                  <a:srgbClr val="FFFFFF"/>
                </a:solidFill>
                <a:latin typeface="Microsoft YaHei"/>
              </a:defRPr>
            </a:pPr>
            <a:r>
              <a:rPr>
                <a:ea typeface="Microsoft YaHei"/>
              </a:rPr>
              <a:t>新颖性来自可验证的散射机制认识，不来自算法名称或性能承诺</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06 可行性｜前期工作</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前期基础：共掺杂、带边态与热输运研究积累</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已有成果支持方法迁移，不等同于Sm基散射和模型已完成验证。</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Zhang等：ACS Appl. Energy Mater. 2023, 6:714–722；RSC Adv. 2022, 12:1653–1662；Sci. Rep. 2017, 7:14590。</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16</a:t>
            </a:r>
          </a:p>
        </p:txBody>
      </p:sp>
      <p:sp>
        <p:nvSpPr>
          <p:cNvPr id="9" name="Rounded Rectangle 8"/>
          <p:cNvSpPr/>
          <p:nvPr/>
        </p:nvSpPr>
        <p:spPr>
          <a:xfrm>
            <a:off x="694944" y="1938528"/>
            <a:ext cx="3447288"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1938528"/>
            <a:ext cx="41148" cy="3456432"/>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12264"/>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NbCoSb</a:t>
            </a:r>
          </a:p>
        </p:txBody>
      </p:sp>
      <p:sp>
        <p:nvSpPr>
          <p:cNvPr id="12" name="TextBox 11"/>
          <p:cNvSpPr txBox="1"/>
          <p:nvPr/>
        </p:nvSpPr>
        <p:spPr>
          <a:xfrm>
            <a:off x="896112" y="2642616"/>
            <a:ext cx="3044952"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空位与Ni取代</a:t>
            </a:r>
          </a:p>
        </p:txBody>
      </p:sp>
      <p:sp>
        <p:nvSpPr>
          <p:cNvPr id="13" name="TextBox 12"/>
          <p:cNvSpPr txBox="1"/>
          <p:nvPr/>
        </p:nvSpPr>
        <p:spPr>
          <a:xfrm>
            <a:off x="896112" y="3099816"/>
            <a:ext cx="3044952" cy="2185415"/>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带边轨道与简并响应</a:t>
            </a:r>
          </a:p>
          <a:p>
            <a:pPr>
              <a:lnSpc>
                <a:spcPct val="122000"/>
              </a:lnSpc>
              <a:spcBef>
                <a:spcPts val="0"/>
              </a:spcBef>
              <a:spcAft>
                <a:spcPts val="0"/>
              </a:spcAft>
              <a:defRPr sz="1900" b="0">
                <a:solidFill>
                  <a:srgbClr val="203946"/>
                </a:solidFill>
                <a:latin typeface="Microsoft YaHei"/>
              </a:defRPr>
            </a:pPr>
            <a:r>
              <a:rPr>
                <a:ea typeface="Microsoft YaHei"/>
              </a:rPr>
              <a:t>缺陷—电输运分析</a:t>
            </a:r>
          </a:p>
          <a:p>
            <a:pPr>
              <a:lnSpc>
                <a:spcPct val="122000"/>
              </a:lnSpc>
              <a:spcBef>
                <a:spcPts val="0"/>
              </a:spcBef>
              <a:spcAft>
                <a:spcPts val="0"/>
              </a:spcAft>
              <a:defRPr sz="1900" b="0">
                <a:solidFill>
                  <a:srgbClr val="203946"/>
                </a:solidFill>
                <a:latin typeface="Microsoft YaHei"/>
              </a:defRPr>
            </a:pPr>
          </a:p>
          <a:p>
            <a:pPr>
              <a:lnSpc>
                <a:spcPct val="122000"/>
              </a:lnSpc>
              <a:spcBef>
                <a:spcPts val="0"/>
              </a:spcBef>
              <a:spcAft>
                <a:spcPts val="0"/>
              </a:spcAft>
              <a:defRPr sz="1900" b="0">
                <a:solidFill>
                  <a:srgbClr val="203946"/>
                </a:solidFill>
                <a:latin typeface="Microsoft YaHei"/>
              </a:defRPr>
            </a:pPr>
            <a:r>
              <a:rPr>
                <a:ea typeface="Microsoft YaHei"/>
              </a:rPr>
              <a:t>支持：构型与带边对照</a:t>
            </a:r>
          </a:p>
        </p:txBody>
      </p:sp>
      <p:sp>
        <p:nvSpPr>
          <p:cNvPr id="14" name="Rounded Rectangle 13"/>
          <p:cNvSpPr/>
          <p:nvPr/>
        </p:nvSpPr>
        <p:spPr>
          <a:xfrm>
            <a:off x="4370832" y="1938528"/>
            <a:ext cx="3447288"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0832" y="1938528"/>
            <a:ext cx="41148" cy="3456432"/>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112264"/>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Sb–Br / Bi</a:t>
            </a:r>
            <a:r>
              <a:rPr>
                <a:latin typeface="Cambria"/>
                <a:ea typeface="Microsoft YaHei"/>
              </a:rPr>
              <a:t>₂</a:t>
            </a:r>
            <a:r>
              <a:rPr>
                <a:ea typeface="Microsoft YaHei"/>
              </a:rPr>
              <a:t>Se</a:t>
            </a:r>
            <a:r>
              <a:rPr>
                <a:latin typeface="Cambria"/>
                <a:ea typeface="Microsoft YaHei"/>
              </a:rPr>
              <a:t>₃</a:t>
            </a:r>
          </a:p>
        </p:txBody>
      </p:sp>
      <p:sp>
        <p:nvSpPr>
          <p:cNvPr id="17" name="TextBox 16"/>
          <p:cNvSpPr txBox="1"/>
          <p:nvPr/>
        </p:nvSpPr>
        <p:spPr>
          <a:xfrm>
            <a:off x="4572000" y="2642616"/>
            <a:ext cx="3044952"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双位点共掺杂</a:t>
            </a:r>
          </a:p>
        </p:txBody>
      </p:sp>
      <p:sp>
        <p:nvSpPr>
          <p:cNvPr id="18" name="TextBox 17"/>
          <p:cNvSpPr txBox="1"/>
          <p:nvPr/>
        </p:nvSpPr>
        <p:spPr>
          <a:xfrm>
            <a:off x="4572000" y="3099816"/>
            <a:ext cx="3044952" cy="2185415"/>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电子态、键合与声子</a:t>
            </a:r>
          </a:p>
          <a:p>
            <a:pPr>
              <a:lnSpc>
                <a:spcPct val="122000"/>
              </a:lnSpc>
              <a:spcBef>
                <a:spcPts val="0"/>
              </a:spcBef>
              <a:spcAft>
                <a:spcPts val="0"/>
              </a:spcAft>
              <a:defRPr sz="1900" b="0">
                <a:solidFill>
                  <a:srgbClr val="203946"/>
                </a:solidFill>
                <a:latin typeface="Microsoft YaHei"/>
              </a:defRPr>
            </a:pPr>
            <a:r>
              <a:rPr>
                <a:ea typeface="Microsoft YaHei"/>
              </a:rPr>
              <a:t>共掺机制分析</a:t>
            </a:r>
          </a:p>
          <a:p>
            <a:pPr>
              <a:lnSpc>
                <a:spcPct val="122000"/>
              </a:lnSpc>
              <a:spcBef>
                <a:spcPts val="0"/>
              </a:spcBef>
              <a:spcAft>
                <a:spcPts val="0"/>
              </a:spcAft>
              <a:defRPr sz="1900" b="0">
                <a:solidFill>
                  <a:srgbClr val="203946"/>
                </a:solidFill>
                <a:latin typeface="Microsoft YaHei"/>
              </a:defRPr>
            </a:pPr>
          </a:p>
          <a:p>
            <a:pPr>
              <a:lnSpc>
                <a:spcPct val="122000"/>
              </a:lnSpc>
              <a:spcBef>
                <a:spcPts val="0"/>
              </a:spcBef>
              <a:spcAft>
                <a:spcPts val="0"/>
              </a:spcAft>
              <a:defRPr sz="1900" b="0">
                <a:solidFill>
                  <a:srgbClr val="203946"/>
                </a:solidFill>
                <a:latin typeface="Microsoft YaHei"/>
              </a:defRPr>
            </a:pPr>
            <a:r>
              <a:rPr>
                <a:ea typeface="Microsoft YaHei"/>
              </a:rPr>
              <a:t>支持：电热响应分解</a:t>
            </a:r>
          </a:p>
        </p:txBody>
      </p:sp>
      <p:sp>
        <p:nvSpPr>
          <p:cNvPr id="19" name="Rounded Rectangle 18"/>
          <p:cNvSpPr/>
          <p:nvPr/>
        </p:nvSpPr>
        <p:spPr>
          <a:xfrm>
            <a:off x="8046720" y="1938528"/>
            <a:ext cx="3447288"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20" y="1938528"/>
            <a:ext cx="41148" cy="3456432"/>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47888" y="2112264"/>
            <a:ext cx="305409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Hf/Sb / ZrNiSn</a:t>
            </a:r>
          </a:p>
        </p:txBody>
      </p:sp>
      <p:sp>
        <p:nvSpPr>
          <p:cNvPr id="22" name="TextBox 21"/>
          <p:cNvSpPr txBox="1"/>
          <p:nvPr/>
        </p:nvSpPr>
        <p:spPr>
          <a:xfrm>
            <a:off x="8247888" y="2642616"/>
            <a:ext cx="3044952"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共掺杂理论研究</a:t>
            </a:r>
          </a:p>
        </p:txBody>
      </p:sp>
      <p:sp>
        <p:nvSpPr>
          <p:cNvPr id="23" name="TextBox 22"/>
          <p:cNvSpPr txBox="1"/>
          <p:nvPr/>
        </p:nvSpPr>
        <p:spPr>
          <a:xfrm>
            <a:off x="8247888" y="3099816"/>
            <a:ext cx="3044952" cy="2185415"/>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第一性原理建模</a:t>
            </a:r>
          </a:p>
          <a:p>
            <a:pPr>
              <a:lnSpc>
                <a:spcPct val="122000"/>
              </a:lnSpc>
              <a:spcBef>
                <a:spcPts val="0"/>
              </a:spcBef>
              <a:spcAft>
                <a:spcPts val="0"/>
              </a:spcAft>
              <a:defRPr sz="1900" b="0">
                <a:solidFill>
                  <a:srgbClr val="203946"/>
                </a:solidFill>
                <a:latin typeface="Microsoft YaHei"/>
              </a:defRPr>
            </a:pPr>
            <a:r>
              <a:rPr>
                <a:ea typeface="Microsoft YaHei"/>
              </a:rPr>
              <a:t>输运性质比较</a:t>
            </a:r>
          </a:p>
          <a:p>
            <a:pPr>
              <a:lnSpc>
                <a:spcPct val="122000"/>
              </a:lnSpc>
              <a:spcBef>
                <a:spcPts val="0"/>
              </a:spcBef>
              <a:spcAft>
                <a:spcPts val="0"/>
              </a:spcAft>
              <a:defRPr sz="1900" b="0">
                <a:solidFill>
                  <a:srgbClr val="203946"/>
                </a:solidFill>
                <a:latin typeface="Microsoft YaHei"/>
              </a:defRPr>
            </a:pPr>
          </a:p>
          <a:p>
            <a:pPr>
              <a:lnSpc>
                <a:spcPct val="122000"/>
              </a:lnSpc>
              <a:spcBef>
                <a:spcPts val="0"/>
              </a:spcBef>
              <a:spcAft>
                <a:spcPts val="0"/>
              </a:spcAft>
              <a:defRPr sz="1900" b="0">
                <a:solidFill>
                  <a:srgbClr val="203946"/>
                </a:solidFill>
                <a:latin typeface="Microsoft YaHei"/>
              </a:defRPr>
            </a:pPr>
            <a:r>
              <a:rPr>
                <a:ea typeface="Microsoft YaHei"/>
              </a:rPr>
              <a:t>支持：流程与结果复核</a:t>
            </a:r>
          </a:p>
        </p:txBody>
      </p:sp>
      <p:sp>
        <p:nvSpPr>
          <p:cNvPr id="24" name="Rounded Rectangle 23"/>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1800" b="1">
                <a:solidFill>
                  <a:srgbClr val="FFFFFF"/>
                </a:solidFill>
                <a:latin typeface="Microsoft YaHei"/>
              </a:defRPr>
            </a:pPr>
            <a:r>
              <a:rPr>
                <a:ea typeface="Microsoft YaHei"/>
              </a:rPr>
              <a:t>SmMg</a:t>
            </a:r>
            <a:r>
              <a:rPr>
                <a:latin typeface="Cambria"/>
                <a:ea typeface="Microsoft YaHei"/>
              </a:rPr>
              <a:t>₂</a:t>
            </a:r>
            <a:r>
              <a:rPr>
                <a:ea typeface="Microsoft YaHei"/>
              </a:rPr>
              <a:t>Bi</a:t>
            </a:r>
            <a:r>
              <a:rPr>
                <a:latin typeface="Cambria"/>
                <a:ea typeface="Microsoft YaHei"/>
              </a:rPr>
              <a:t>₂</a:t>
            </a:r>
            <a:r>
              <a:rPr>
                <a:ea typeface="Microsoft YaHei"/>
              </a:rPr>
              <a:t>已有结构/能带初算声明；需补参数、原始数据与散射样例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06 可行性｜理论与条件</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可行性分四维论证，关键能力先做样例</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资源以项目实际配额计，不以平台总规模替代可用能力。</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算力与软件信息来自申请人提供的正文；可用机时、授权及散射样例尚需核实。</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17</a:t>
            </a:r>
          </a:p>
        </p:txBody>
      </p:sp>
      <p:sp>
        <p:nvSpPr>
          <p:cNvPr id="9" name="Rounded Rectangle 8"/>
          <p:cNvSpPr/>
          <p:nvPr/>
        </p:nvSpPr>
        <p:spPr>
          <a:xfrm>
            <a:off x="694944" y="1938528"/>
            <a:ext cx="5303520"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93976"/>
            <a:ext cx="4901184" cy="411480"/>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17F80"/>
                </a:solidFill>
                <a:latin typeface="Microsoft YaHei"/>
              </a:defRPr>
            </a:pPr>
            <a:r>
              <a:rPr>
                <a:ea typeface="Microsoft YaHei"/>
              </a:rPr>
              <a:t>理论基础</a:t>
            </a:r>
          </a:p>
        </p:txBody>
      </p:sp>
      <p:sp>
        <p:nvSpPr>
          <p:cNvPr id="11" name="TextBox 10"/>
          <p:cNvSpPr txBox="1"/>
          <p:nvPr/>
        </p:nvSpPr>
        <p:spPr>
          <a:xfrm>
            <a:off x="896112" y="2688336"/>
            <a:ext cx="4901184" cy="704088"/>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DFT + 电/声子BTE</a:t>
            </a:r>
          </a:p>
          <a:p>
            <a:pPr>
              <a:lnSpc>
                <a:spcPct val="122000"/>
              </a:lnSpc>
              <a:spcBef>
                <a:spcPts val="0"/>
              </a:spcBef>
              <a:spcAft>
                <a:spcPts val="0"/>
              </a:spcAft>
              <a:defRPr sz="2000" b="0">
                <a:solidFill>
                  <a:srgbClr val="203946"/>
                </a:solidFill>
                <a:latin typeface="Microsoft YaHei"/>
              </a:defRPr>
            </a:pPr>
            <a:r>
              <a:rPr>
                <a:ea typeface="Microsoft YaHei"/>
              </a:rPr>
              <a:t>配对对照使假设可验证</a:t>
            </a:r>
          </a:p>
        </p:txBody>
      </p:sp>
      <p:sp>
        <p:nvSpPr>
          <p:cNvPr id="12" name="Rounded Rectangle 11"/>
          <p:cNvSpPr/>
          <p:nvPr/>
        </p:nvSpPr>
        <p:spPr>
          <a:xfrm>
            <a:off x="6199632" y="1938528"/>
            <a:ext cx="5303520"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093976"/>
            <a:ext cx="4901184" cy="411480"/>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17F80"/>
                </a:solidFill>
                <a:latin typeface="Microsoft YaHei"/>
              </a:defRPr>
            </a:pPr>
            <a:r>
              <a:rPr>
                <a:ea typeface="Microsoft YaHei"/>
              </a:rPr>
              <a:t>技术储备</a:t>
            </a:r>
          </a:p>
        </p:txBody>
      </p:sp>
      <p:sp>
        <p:nvSpPr>
          <p:cNvPr id="14" name="TextBox 13"/>
          <p:cNvSpPr txBox="1"/>
          <p:nvPr/>
        </p:nvSpPr>
        <p:spPr>
          <a:xfrm>
            <a:off x="6400800" y="2688336"/>
            <a:ext cx="4901184" cy="704088"/>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已有共掺杂与输运经验</a:t>
            </a:r>
          </a:p>
          <a:p>
            <a:pPr>
              <a:lnSpc>
                <a:spcPct val="122000"/>
              </a:lnSpc>
              <a:spcBef>
                <a:spcPts val="0"/>
              </a:spcBef>
              <a:spcAft>
                <a:spcPts val="0"/>
              </a:spcAft>
              <a:defRPr sz="2000" b="0">
                <a:solidFill>
                  <a:srgbClr val="203946"/>
                </a:solidFill>
                <a:latin typeface="Microsoft YaHei"/>
              </a:defRPr>
            </a:pPr>
            <a:r>
              <a:rPr>
                <a:ea typeface="Microsoft YaHei"/>
              </a:rPr>
              <a:t>显式散射先做母相样例</a:t>
            </a:r>
          </a:p>
        </p:txBody>
      </p:sp>
      <p:sp>
        <p:nvSpPr>
          <p:cNvPr id="15" name="Rounded Rectangle 14"/>
          <p:cNvSpPr/>
          <p:nvPr/>
        </p:nvSpPr>
        <p:spPr>
          <a:xfrm>
            <a:off x="694944" y="3767328"/>
            <a:ext cx="5303520"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922776"/>
            <a:ext cx="4901184" cy="411480"/>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17F80"/>
                </a:solidFill>
                <a:latin typeface="Microsoft YaHei"/>
              </a:defRPr>
            </a:pPr>
            <a:r>
              <a:rPr>
                <a:ea typeface="Microsoft YaHei"/>
              </a:rPr>
              <a:t>前期工作</a:t>
            </a:r>
          </a:p>
        </p:txBody>
      </p:sp>
      <p:sp>
        <p:nvSpPr>
          <p:cNvPr id="17" name="TextBox 16"/>
          <p:cNvSpPr txBox="1"/>
          <p:nvPr/>
        </p:nvSpPr>
        <p:spPr>
          <a:xfrm>
            <a:off x="896112" y="4517136"/>
            <a:ext cx="4901184" cy="704088"/>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三项相关论文＋母相初算</a:t>
            </a:r>
          </a:p>
          <a:p>
            <a:pPr>
              <a:lnSpc>
                <a:spcPct val="122000"/>
              </a:lnSpc>
              <a:spcBef>
                <a:spcPts val="0"/>
              </a:spcBef>
              <a:spcAft>
                <a:spcPts val="0"/>
              </a:spcAft>
              <a:defRPr sz="2000" b="0">
                <a:solidFill>
                  <a:srgbClr val="203946"/>
                </a:solidFill>
                <a:latin typeface="Microsoft YaHei"/>
              </a:defRPr>
            </a:pPr>
            <a:r>
              <a:rPr>
                <a:ea typeface="Microsoft YaHei"/>
              </a:rPr>
              <a:t>补4f、SOC与收敛记录</a:t>
            </a:r>
          </a:p>
        </p:txBody>
      </p:sp>
      <p:sp>
        <p:nvSpPr>
          <p:cNvPr id="18" name="Rounded Rectangle 17"/>
          <p:cNvSpPr/>
          <p:nvPr/>
        </p:nvSpPr>
        <p:spPr>
          <a:xfrm>
            <a:off x="6199632" y="3767328"/>
            <a:ext cx="5303520"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922776"/>
            <a:ext cx="4901184" cy="411480"/>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17F80"/>
                </a:solidFill>
                <a:latin typeface="Microsoft YaHei"/>
              </a:defRPr>
            </a:pPr>
            <a:r>
              <a:rPr>
                <a:ea typeface="Microsoft YaHei"/>
              </a:rPr>
              <a:t>团队与条件</a:t>
            </a:r>
          </a:p>
        </p:txBody>
      </p:sp>
      <p:sp>
        <p:nvSpPr>
          <p:cNvPr id="20" name="TextBox 19"/>
          <p:cNvSpPr txBox="1"/>
          <p:nvPr/>
        </p:nvSpPr>
        <p:spPr>
          <a:xfrm>
            <a:off x="6400800" y="4517136"/>
            <a:ext cx="4901184" cy="704088"/>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实际可用64核 / 4 TB</a:t>
            </a:r>
          </a:p>
          <a:p>
            <a:pPr>
              <a:lnSpc>
                <a:spcPct val="122000"/>
              </a:lnSpc>
              <a:spcBef>
                <a:spcPts val="0"/>
              </a:spcBef>
              <a:spcAft>
                <a:spcPts val="0"/>
              </a:spcAft>
              <a:defRPr sz="2000" b="0">
                <a:solidFill>
                  <a:srgbClr val="203946"/>
                </a:solidFill>
                <a:latin typeface="Microsoft YaHei"/>
              </a:defRPr>
            </a:pPr>
            <a:r>
              <a:rPr>
                <a:ea typeface="Microsoft YaHei"/>
              </a:rPr>
              <a:t>申请人主导，分层计算</a:t>
            </a:r>
          </a:p>
        </p:txBody>
      </p:sp>
      <p:sp>
        <p:nvSpPr>
          <p:cNvPr id="21" name="Rounded Rectangle 20"/>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1800" b="1">
                <a:solidFill>
                  <a:srgbClr val="FFFFFF"/>
                </a:solidFill>
                <a:latin typeface="Microsoft YaHei"/>
              </a:defRPr>
            </a:pPr>
            <a:r>
              <a:rPr>
                <a:ea typeface="Microsoft YaHei"/>
              </a:rPr>
              <a:t>不依赖未落实的实验合作完成核心任务；外购资源按实测成本与报价核定</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06 可行性｜风险控制</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风险不是附注：每个关键环节都有退路</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回退方案保留科学问题，减少对单一模型和单个高值点的依赖。</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18</a:t>
            </a:r>
          </a:p>
        </p:txBody>
      </p:sp>
      <p:sp>
        <p:nvSpPr>
          <p:cNvPr id="9" name="Rounded Rectangle 8"/>
          <p:cNvSpPr/>
          <p:nvPr/>
        </p:nvSpPr>
        <p:spPr>
          <a:xfrm>
            <a:off x="694944" y="1920240"/>
            <a:ext cx="3200400" cy="576072"/>
          </a:xfrm>
          <a:prstGeom prst="roundRect">
            <a:avLst>
              <a:gd name="adj" fmla="val 10000"/>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011680"/>
            <a:ext cx="2862072" cy="393192"/>
          </a:xfrm>
          <a:prstGeom prst="rect">
            <a:avLst/>
          </a:prstGeom>
          <a:noFill/>
        </p:spPr>
        <p:txBody>
          <a:bodyPr wrap="none" lIns="0" rIns="0" tIns="0" bIns="0" anchor="t">
            <a:spAutoFit/>
          </a:bodyPr>
          <a:lstStyle/>
          <a:p>
            <a:pPr>
              <a:lnSpc>
                <a:spcPct val="122000"/>
              </a:lnSpc>
              <a:spcBef>
                <a:spcPts val="0"/>
              </a:spcBef>
              <a:spcAft>
                <a:spcPts val="0"/>
              </a:spcAft>
              <a:defRPr sz="1700" b="1">
                <a:solidFill>
                  <a:srgbClr val="122B3A"/>
                </a:solidFill>
                <a:latin typeface="Microsoft YaHei"/>
              </a:defRPr>
            </a:pPr>
            <a:r>
              <a:rPr>
                <a:ea typeface="Microsoft YaHei"/>
              </a:rPr>
              <a:t>Sm 4f / 磁态敏感</a:t>
            </a:r>
          </a:p>
        </p:txBody>
      </p:sp>
      <p:sp>
        <p:nvSpPr>
          <p:cNvPr id="11" name="Chevron 10"/>
          <p:cNvSpPr/>
          <p:nvPr/>
        </p:nvSpPr>
        <p:spPr>
          <a:xfrm>
            <a:off x="4078224" y="2075688"/>
            <a:ext cx="228600" cy="256032"/>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984248"/>
            <a:ext cx="6903720" cy="448056"/>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合理模型比较与参数敏感性；报告稳健排序</a:t>
            </a:r>
          </a:p>
        </p:txBody>
      </p:sp>
      <p:sp>
        <p:nvSpPr>
          <p:cNvPr id="13" name="Rounded Rectangle 12"/>
          <p:cNvSpPr/>
          <p:nvPr/>
        </p:nvSpPr>
        <p:spPr>
          <a:xfrm>
            <a:off x="694944" y="2642616"/>
            <a:ext cx="3200400" cy="576072"/>
          </a:xfrm>
          <a:prstGeom prst="roundRect">
            <a:avLst>
              <a:gd name="adj" fmla="val 10000"/>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734056"/>
            <a:ext cx="2862072" cy="393192"/>
          </a:xfrm>
          <a:prstGeom prst="rect">
            <a:avLst/>
          </a:prstGeom>
          <a:noFill/>
        </p:spPr>
        <p:txBody>
          <a:bodyPr wrap="none" lIns="0" rIns="0" tIns="0" bIns="0" anchor="t">
            <a:spAutoFit/>
          </a:bodyPr>
          <a:lstStyle/>
          <a:p>
            <a:pPr>
              <a:lnSpc>
                <a:spcPct val="122000"/>
              </a:lnSpc>
              <a:spcBef>
                <a:spcPts val="0"/>
              </a:spcBef>
              <a:spcAft>
                <a:spcPts val="0"/>
              </a:spcAft>
              <a:defRPr sz="1700" b="1">
                <a:solidFill>
                  <a:srgbClr val="122B3A"/>
                </a:solidFill>
                <a:latin typeface="Microsoft YaHei"/>
              </a:defRPr>
            </a:pPr>
            <a:r>
              <a:rPr>
                <a:ea typeface="Microsoft YaHei"/>
              </a:rPr>
              <a:t>取代失稳 / 缺陷补偿</a:t>
            </a:r>
          </a:p>
        </p:txBody>
      </p:sp>
      <p:sp>
        <p:nvSpPr>
          <p:cNvPr id="15" name="Chevron 14"/>
          <p:cNvSpPr/>
          <p:nvPr/>
        </p:nvSpPr>
        <p:spPr>
          <a:xfrm>
            <a:off x="4078224" y="2798064"/>
            <a:ext cx="228600" cy="256032"/>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2706624"/>
            <a:ext cx="6903720" cy="448056"/>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收缩至可达组分；保留失败构型</a:t>
            </a:r>
          </a:p>
        </p:txBody>
      </p:sp>
      <p:sp>
        <p:nvSpPr>
          <p:cNvPr id="17" name="Rounded Rectangle 16"/>
          <p:cNvSpPr/>
          <p:nvPr/>
        </p:nvSpPr>
        <p:spPr>
          <a:xfrm>
            <a:off x="694944" y="3364992"/>
            <a:ext cx="3200400" cy="576072"/>
          </a:xfrm>
          <a:prstGeom prst="roundRect">
            <a:avLst>
              <a:gd name="adj" fmla="val 10000"/>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456432"/>
            <a:ext cx="2862072" cy="393192"/>
          </a:xfrm>
          <a:prstGeom prst="rect">
            <a:avLst/>
          </a:prstGeom>
          <a:noFill/>
        </p:spPr>
        <p:txBody>
          <a:bodyPr wrap="none" lIns="0" rIns="0" tIns="0" bIns="0" anchor="t">
            <a:spAutoFit/>
          </a:bodyPr>
          <a:lstStyle/>
          <a:p>
            <a:pPr>
              <a:lnSpc>
                <a:spcPct val="122000"/>
              </a:lnSpc>
              <a:spcBef>
                <a:spcPts val="0"/>
              </a:spcBef>
              <a:spcAft>
                <a:spcPts val="0"/>
              </a:spcAft>
              <a:defRPr sz="1700" b="1">
                <a:solidFill>
                  <a:srgbClr val="122B3A"/>
                </a:solidFill>
                <a:latin typeface="Microsoft YaHei"/>
              </a:defRPr>
            </a:pPr>
            <a:r>
              <a:rPr>
                <a:ea typeface="Microsoft YaHei"/>
              </a:rPr>
              <a:t>合金或谷间散射增强</a:t>
            </a:r>
          </a:p>
        </p:txBody>
      </p:sp>
      <p:sp>
        <p:nvSpPr>
          <p:cNvPr id="19" name="Chevron 18"/>
          <p:cNvSpPr/>
          <p:nvPr/>
        </p:nvSpPr>
        <p:spPr>
          <a:xfrm>
            <a:off x="4078224" y="3520440"/>
            <a:ext cx="228600" cy="256032"/>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44568" y="3429000"/>
            <a:ext cx="6903720" cy="448056"/>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显式检验排序；识别竞争阈值与反例</a:t>
            </a:r>
          </a:p>
        </p:txBody>
      </p:sp>
      <p:sp>
        <p:nvSpPr>
          <p:cNvPr id="21" name="Rounded Rectangle 20"/>
          <p:cNvSpPr/>
          <p:nvPr/>
        </p:nvSpPr>
        <p:spPr>
          <a:xfrm>
            <a:off x="694944" y="4087368"/>
            <a:ext cx="3200400" cy="576072"/>
          </a:xfrm>
          <a:prstGeom prst="roundRect">
            <a:avLst>
              <a:gd name="adj" fmla="val 10000"/>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178808"/>
            <a:ext cx="2862072" cy="393192"/>
          </a:xfrm>
          <a:prstGeom prst="rect">
            <a:avLst/>
          </a:prstGeom>
          <a:noFill/>
        </p:spPr>
        <p:txBody>
          <a:bodyPr wrap="none" lIns="0" rIns="0" tIns="0" bIns="0" anchor="t">
            <a:spAutoFit/>
          </a:bodyPr>
          <a:lstStyle/>
          <a:p>
            <a:pPr>
              <a:lnSpc>
                <a:spcPct val="122000"/>
              </a:lnSpc>
              <a:spcBef>
                <a:spcPts val="0"/>
              </a:spcBef>
              <a:spcAft>
                <a:spcPts val="0"/>
              </a:spcAft>
              <a:defRPr sz="1700" b="1">
                <a:solidFill>
                  <a:srgbClr val="122B3A"/>
                </a:solidFill>
                <a:latin typeface="Microsoft YaHei"/>
              </a:defRPr>
            </a:pPr>
            <a:r>
              <a:rPr>
                <a:ea typeface="Microsoft YaHei"/>
              </a:rPr>
              <a:t>学习模型泛化不足</a:t>
            </a:r>
          </a:p>
        </p:txBody>
      </p:sp>
      <p:sp>
        <p:nvSpPr>
          <p:cNvPr id="23" name="Chevron 22"/>
          <p:cNvSpPr/>
          <p:nvPr/>
        </p:nvSpPr>
        <p:spPr>
          <a:xfrm>
            <a:off x="4078224" y="4242816"/>
            <a:ext cx="228600" cy="256032"/>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44568" y="4151376"/>
            <a:ext cx="6903720" cy="448056"/>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回退代表构型DFT与空间覆盖采样</a:t>
            </a:r>
          </a:p>
        </p:txBody>
      </p:sp>
      <p:sp>
        <p:nvSpPr>
          <p:cNvPr id="25" name="Rounded Rectangle 24"/>
          <p:cNvSpPr/>
          <p:nvPr/>
        </p:nvSpPr>
        <p:spPr>
          <a:xfrm>
            <a:off x="694944" y="4809744"/>
            <a:ext cx="3200400" cy="576072"/>
          </a:xfrm>
          <a:prstGeom prst="roundRect">
            <a:avLst>
              <a:gd name="adj" fmla="val 10000"/>
            </a:avLst>
          </a:prstGeom>
          <a:solidFill>
            <a:srgbClr val="E5E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901183"/>
            <a:ext cx="2862072" cy="393192"/>
          </a:xfrm>
          <a:prstGeom prst="rect">
            <a:avLst/>
          </a:prstGeom>
          <a:noFill/>
        </p:spPr>
        <p:txBody>
          <a:bodyPr wrap="none" lIns="0" rIns="0" tIns="0" bIns="0" anchor="t">
            <a:spAutoFit/>
          </a:bodyPr>
          <a:lstStyle/>
          <a:p>
            <a:pPr>
              <a:lnSpc>
                <a:spcPct val="122000"/>
              </a:lnSpc>
              <a:spcBef>
                <a:spcPts val="0"/>
              </a:spcBef>
              <a:spcAft>
                <a:spcPts val="0"/>
              </a:spcAft>
              <a:defRPr sz="1700" b="1">
                <a:solidFill>
                  <a:srgbClr val="122B3A"/>
                </a:solidFill>
                <a:latin typeface="Microsoft YaHei"/>
              </a:defRPr>
            </a:pPr>
            <a:r>
              <a:rPr>
                <a:ea typeface="Microsoft YaHei"/>
              </a:rPr>
              <a:t>强非谐 / 无序近似失效</a:t>
            </a:r>
          </a:p>
        </p:txBody>
      </p:sp>
      <p:sp>
        <p:nvSpPr>
          <p:cNvPr id="27" name="Chevron 26"/>
          <p:cNvSpPr/>
          <p:nvPr/>
        </p:nvSpPr>
        <p:spPr>
          <a:xfrm>
            <a:off x="4078224" y="4965192"/>
            <a:ext cx="228600" cy="256032"/>
          </a:xfrm>
          <a:prstGeom prst="chevron">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44568" y="4873752"/>
            <a:ext cx="6903720" cy="448056"/>
          </a:xfrm>
          <a:prstGeom prst="rect">
            <a:avLst/>
          </a:prstGeom>
          <a:noFill/>
        </p:spPr>
        <p:txBody>
          <a:bodyPr wrap="none" lIns="0" rIns="0" tIns="0" bIns="0" anchor="t">
            <a:spAutoFit/>
          </a:bodyPr>
          <a:lstStyle/>
          <a:p>
            <a:pPr>
              <a:lnSpc>
                <a:spcPct val="122000"/>
              </a:lnSpc>
              <a:spcBef>
                <a:spcPts val="0"/>
              </a:spcBef>
              <a:spcAft>
                <a:spcPts val="0"/>
              </a:spcAft>
              <a:defRPr sz="1900" b="0">
                <a:solidFill>
                  <a:srgbClr val="203946"/>
                </a:solidFill>
                <a:latin typeface="Microsoft YaHei"/>
              </a:defRPr>
            </a:pPr>
            <a:r>
              <a:rPr>
                <a:ea typeface="Microsoft YaHei"/>
              </a:rPr>
              <a:t>限定适用区间；有限温度交叉检验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07 进度与成果</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三年计划：把高风险验证前置到第一年</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暂按2028—2030年安排；以2027正式申报要求及批准期限为准。</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19</a:t>
            </a:r>
          </a:p>
        </p:txBody>
      </p:sp>
      <p:sp>
        <p:nvSpPr>
          <p:cNvPr id="9" name="Rounded Rectangle 8"/>
          <p:cNvSpPr/>
          <p:nvPr/>
        </p:nvSpPr>
        <p:spPr>
          <a:xfrm>
            <a:off x="694944" y="1938528"/>
            <a:ext cx="3447288" cy="344728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39696"/>
            <a:ext cx="3017520" cy="603504"/>
          </a:xfrm>
          <a:prstGeom prst="rect">
            <a:avLst/>
          </a:prstGeom>
          <a:noFill/>
        </p:spPr>
        <p:txBody>
          <a:bodyPr wrap="none" lIns="0" rIns="0" tIns="0" bIns="0" anchor="t">
            <a:spAutoFit/>
          </a:bodyPr>
          <a:lstStyle/>
          <a:p>
            <a:pPr>
              <a:lnSpc>
                <a:spcPct val="122000"/>
              </a:lnSpc>
              <a:spcBef>
                <a:spcPts val="0"/>
              </a:spcBef>
              <a:spcAft>
                <a:spcPts val="0"/>
              </a:spcAft>
              <a:defRPr sz="3600" b="1">
                <a:solidFill>
                  <a:srgbClr val="117F80"/>
                </a:solidFill>
                <a:latin typeface="Microsoft YaHei"/>
              </a:defRPr>
            </a:pPr>
            <a:r>
              <a:rPr>
                <a:ea typeface="Microsoft YaHei"/>
              </a:rPr>
              <a:t>2028</a:t>
            </a:r>
          </a:p>
        </p:txBody>
      </p:sp>
      <p:sp>
        <p:nvSpPr>
          <p:cNvPr id="11" name="TextBox 10"/>
          <p:cNvSpPr txBox="1"/>
          <p:nvPr/>
        </p:nvSpPr>
        <p:spPr>
          <a:xfrm>
            <a:off x="896112" y="2990088"/>
            <a:ext cx="3017520" cy="475488"/>
          </a:xfrm>
          <a:prstGeom prst="rect">
            <a:avLst/>
          </a:prstGeom>
          <a:noFill/>
        </p:spPr>
        <p:txBody>
          <a:bodyPr wrap="none" lIns="0" rIns="0" tIns="0" bIns="0" anchor="t">
            <a:spAutoFit/>
          </a:bodyPr>
          <a:lstStyle/>
          <a:p>
            <a:pPr>
              <a:lnSpc>
                <a:spcPct val="122000"/>
              </a:lnSpc>
              <a:spcBef>
                <a:spcPts val="0"/>
              </a:spcBef>
              <a:spcAft>
                <a:spcPts val="0"/>
              </a:spcAft>
              <a:defRPr sz="2200" b="1">
                <a:solidFill>
                  <a:srgbClr val="122B3A"/>
                </a:solidFill>
                <a:latin typeface="Microsoft YaHei"/>
              </a:defRPr>
            </a:pPr>
            <a:r>
              <a:rPr>
                <a:ea typeface="Microsoft YaHei"/>
              </a:rPr>
              <a:t>基准与验证</a:t>
            </a:r>
          </a:p>
        </p:txBody>
      </p:sp>
      <p:sp>
        <p:nvSpPr>
          <p:cNvPr id="12" name="TextBox 11"/>
          <p:cNvSpPr txBox="1"/>
          <p:nvPr/>
        </p:nvSpPr>
        <p:spPr>
          <a:xfrm>
            <a:off x="896112" y="3749039"/>
            <a:ext cx="3017520" cy="1371600"/>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母相 / SOC / 4f / 收敛</a:t>
            </a:r>
          </a:p>
          <a:p>
            <a:pPr>
              <a:lnSpc>
                <a:spcPct val="122000"/>
              </a:lnSpc>
              <a:spcBef>
                <a:spcPts val="0"/>
              </a:spcBef>
              <a:spcAft>
                <a:spcPts val="0"/>
              </a:spcAft>
              <a:defRPr sz="2000" b="0">
                <a:solidFill>
                  <a:srgbClr val="203946"/>
                </a:solidFill>
                <a:latin typeface="Microsoft YaHei"/>
              </a:defRPr>
            </a:pPr>
            <a:r>
              <a:rPr>
                <a:ea typeface="Microsoft YaHei"/>
              </a:rPr>
              <a:t>初始构型与成本核定</a:t>
            </a:r>
          </a:p>
          <a:p>
            <a:pPr>
              <a:lnSpc>
                <a:spcPct val="122000"/>
              </a:lnSpc>
              <a:spcBef>
                <a:spcPts val="0"/>
              </a:spcBef>
              <a:spcAft>
                <a:spcPts val="0"/>
              </a:spcAft>
              <a:defRPr sz="2000" b="0">
                <a:solidFill>
                  <a:srgbClr val="203946"/>
                </a:solidFill>
                <a:latin typeface="Microsoft YaHei"/>
              </a:defRPr>
            </a:pPr>
            <a:r>
              <a:rPr>
                <a:ea typeface="Microsoft YaHei"/>
              </a:rPr>
              <a:t>散射样例与小样本基线</a:t>
            </a:r>
          </a:p>
        </p:txBody>
      </p:sp>
      <p:sp>
        <p:nvSpPr>
          <p:cNvPr id="13" name="Rounded Rectangle 12"/>
          <p:cNvSpPr/>
          <p:nvPr/>
        </p:nvSpPr>
        <p:spPr>
          <a:xfrm>
            <a:off x="4370832" y="1938528"/>
            <a:ext cx="3447288" cy="344728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139696"/>
            <a:ext cx="3017520" cy="603504"/>
          </a:xfrm>
          <a:prstGeom prst="rect">
            <a:avLst/>
          </a:prstGeom>
          <a:noFill/>
        </p:spPr>
        <p:txBody>
          <a:bodyPr wrap="none" lIns="0" rIns="0" tIns="0" bIns="0" anchor="t">
            <a:spAutoFit/>
          </a:bodyPr>
          <a:lstStyle/>
          <a:p>
            <a:pPr>
              <a:lnSpc>
                <a:spcPct val="122000"/>
              </a:lnSpc>
              <a:spcBef>
                <a:spcPts val="0"/>
              </a:spcBef>
              <a:spcAft>
                <a:spcPts val="0"/>
              </a:spcAft>
              <a:defRPr sz="3600" b="1">
                <a:solidFill>
                  <a:srgbClr val="117F80"/>
                </a:solidFill>
                <a:latin typeface="Microsoft YaHei"/>
              </a:defRPr>
            </a:pPr>
            <a:r>
              <a:rPr>
                <a:ea typeface="Microsoft YaHei"/>
              </a:rPr>
              <a:t>2029</a:t>
            </a:r>
          </a:p>
        </p:txBody>
      </p:sp>
      <p:sp>
        <p:nvSpPr>
          <p:cNvPr id="15" name="TextBox 14"/>
          <p:cNvSpPr txBox="1"/>
          <p:nvPr/>
        </p:nvSpPr>
        <p:spPr>
          <a:xfrm>
            <a:off x="4572000" y="2990088"/>
            <a:ext cx="3017520" cy="475488"/>
          </a:xfrm>
          <a:prstGeom prst="rect">
            <a:avLst/>
          </a:prstGeom>
          <a:noFill/>
        </p:spPr>
        <p:txBody>
          <a:bodyPr wrap="none" lIns="0" rIns="0" tIns="0" bIns="0" anchor="t">
            <a:spAutoFit/>
          </a:bodyPr>
          <a:lstStyle/>
          <a:p>
            <a:pPr>
              <a:lnSpc>
                <a:spcPct val="122000"/>
              </a:lnSpc>
              <a:spcBef>
                <a:spcPts val="0"/>
              </a:spcBef>
              <a:spcAft>
                <a:spcPts val="0"/>
              </a:spcAft>
              <a:defRPr sz="2200" b="1">
                <a:solidFill>
                  <a:srgbClr val="122B3A"/>
                </a:solidFill>
                <a:latin typeface="Microsoft YaHei"/>
              </a:defRPr>
            </a:pPr>
            <a:r>
              <a:rPr>
                <a:ea typeface="Microsoft YaHei"/>
              </a:rPr>
              <a:t>机制与精算</a:t>
            </a:r>
          </a:p>
        </p:txBody>
      </p:sp>
      <p:sp>
        <p:nvSpPr>
          <p:cNvPr id="16" name="TextBox 15"/>
          <p:cNvSpPr txBox="1"/>
          <p:nvPr/>
        </p:nvSpPr>
        <p:spPr>
          <a:xfrm>
            <a:off x="4572000" y="3749039"/>
            <a:ext cx="3017520" cy="1371600"/>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代表构型显式载流子散射</a:t>
            </a:r>
          </a:p>
          <a:p>
            <a:pPr>
              <a:lnSpc>
                <a:spcPct val="122000"/>
              </a:lnSpc>
              <a:spcBef>
                <a:spcPts val="0"/>
              </a:spcBef>
              <a:spcAft>
                <a:spcPts val="0"/>
              </a:spcAft>
              <a:defRPr sz="2000" b="0">
                <a:solidFill>
                  <a:srgbClr val="203946"/>
                </a:solidFill>
                <a:latin typeface="Microsoft YaHei"/>
              </a:defRPr>
            </a:pPr>
            <a:r>
              <a:rPr>
                <a:ea typeface="Microsoft YaHei"/>
              </a:rPr>
              <a:t>化学/几何受控扰动</a:t>
            </a:r>
          </a:p>
          <a:p>
            <a:pPr>
              <a:lnSpc>
                <a:spcPct val="122000"/>
              </a:lnSpc>
              <a:spcBef>
                <a:spcPts val="0"/>
              </a:spcBef>
              <a:spcAft>
                <a:spcPts val="0"/>
              </a:spcAft>
              <a:defRPr sz="2000" b="0">
                <a:solidFill>
                  <a:srgbClr val="203946"/>
                </a:solidFill>
                <a:latin typeface="Microsoft YaHei"/>
              </a:defRPr>
            </a:pPr>
            <a:r>
              <a:rPr>
                <a:ea typeface="Microsoft YaHei"/>
              </a:rPr>
              <a:t>不超过3轮主动选点</a:t>
            </a:r>
          </a:p>
        </p:txBody>
      </p:sp>
      <p:sp>
        <p:nvSpPr>
          <p:cNvPr id="17" name="Rounded Rectangle 16"/>
          <p:cNvSpPr/>
          <p:nvPr/>
        </p:nvSpPr>
        <p:spPr>
          <a:xfrm>
            <a:off x="8046720" y="1938528"/>
            <a:ext cx="3447288" cy="344728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139696"/>
            <a:ext cx="3017520" cy="603504"/>
          </a:xfrm>
          <a:prstGeom prst="rect">
            <a:avLst/>
          </a:prstGeom>
          <a:noFill/>
        </p:spPr>
        <p:txBody>
          <a:bodyPr wrap="none" lIns="0" rIns="0" tIns="0" bIns="0" anchor="t">
            <a:spAutoFit/>
          </a:bodyPr>
          <a:lstStyle/>
          <a:p>
            <a:pPr>
              <a:lnSpc>
                <a:spcPct val="122000"/>
              </a:lnSpc>
              <a:spcBef>
                <a:spcPts val="0"/>
              </a:spcBef>
              <a:spcAft>
                <a:spcPts val="0"/>
              </a:spcAft>
              <a:defRPr sz="3600" b="1">
                <a:solidFill>
                  <a:srgbClr val="117F80"/>
                </a:solidFill>
                <a:latin typeface="Microsoft YaHei"/>
              </a:defRPr>
            </a:pPr>
            <a:r>
              <a:rPr>
                <a:ea typeface="Microsoft YaHei"/>
              </a:rPr>
              <a:t>2030</a:t>
            </a:r>
          </a:p>
        </p:txBody>
      </p:sp>
      <p:sp>
        <p:nvSpPr>
          <p:cNvPr id="19" name="TextBox 18"/>
          <p:cNvSpPr txBox="1"/>
          <p:nvPr/>
        </p:nvSpPr>
        <p:spPr>
          <a:xfrm>
            <a:off x="8247888" y="2990088"/>
            <a:ext cx="3017520" cy="475488"/>
          </a:xfrm>
          <a:prstGeom prst="rect">
            <a:avLst/>
          </a:prstGeom>
          <a:noFill/>
        </p:spPr>
        <p:txBody>
          <a:bodyPr wrap="none" lIns="0" rIns="0" tIns="0" bIns="0" anchor="t">
            <a:spAutoFit/>
          </a:bodyPr>
          <a:lstStyle/>
          <a:p>
            <a:pPr>
              <a:lnSpc>
                <a:spcPct val="122000"/>
              </a:lnSpc>
              <a:spcBef>
                <a:spcPts val="0"/>
              </a:spcBef>
              <a:spcAft>
                <a:spcPts val="0"/>
              </a:spcAft>
              <a:defRPr sz="2200" b="1">
                <a:solidFill>
                  <a:srgbClr val="122B3A"/>
                </a:solidFill>
                <a:latin typeface="Microsoft YaHei"/>
              </a:defRPr>
            </a:pPr>
            <a:r>
              <a:rPr>
                <a:ea typeface="Microsoft YaHei"/>
              </a:rPr>
              <a:t>边界与归档</a:t>
            </a:r>
          </a:p>
        </p:txBody>
      </p:sp>
      <p:sp>
        <p:nvSpPr>
          <p:cNvPr id="20" name="TextBox 19"/>
          <p:cNvSpPr txBox="1"/>
          <p:nvPr/>
        </p:nvSpPr>
        <p:spPr>
          <a:xfrm>
            <a:off x="8247888" y="3749039"/>
            <a:ext cx="3017520" cy="1371600"/>
          </a:xfrm>
          <a:prstGeom prst="rect">
            <a:avLst/>
          </a:prstGeom>
          <a:noFill/>
        </p:spPr>
        <p:txBody>
          <a:bodyPr wrap="none" lIns="0" rIns="0" tIns="0" bIns="0" anchor="t">
            <a:spAutoFit/>
          </a:bodyPr>
          <a:lstStyle/>
          <a:p>
            <a:pPr>
              <a:lnSpc>
                <a:spcPct val="122000"/>
              </a:lnSpc>
              <a:spcBef>
                <a:spcPts val="0"/>
              </a:spcBef>
              <a:spcAft>
                <a:spcPts val="0"/>
              </a:spcAft>
              <a:defRPr sz="2000" b="0">
                <a:solidFill>
                  <a:srgbClr val="203946"/>
                </a:solidFill>
                <a:latin typeface="Microsoft YaHei"/>
              </a:defRPr>
            </a:pPr>
            <a:r>
              <a:rPr>
                <a:ea typeface="Microsoft YaHei"/>
              </a:rPr>
              <a:t>独立构型及缺陷条件检验</a:t>
            </a:r>
          </a:p>
          <a:p>
            <a:pPr>
              <a:lnSpc>
                <a:spcPct val="122000"/>
              </a:lnSpc>
              <a:spcBef>
                <a:spcPts val="0"/>
              </a:spcBef>
              <a:spcAft>
                <a:spcPts val="0"/>
              </a:spcAft>
              <a:defRPr sz="2000" b="0">
                <a:solidFill>
                  <a:srgbClr val="203946"/>
                </a:solidFill>
                <a:latin typeface="Microsoft YaHei"/>
              </a:defRPr>
            </a:pPr>
            <a:r>
              <a:rPr>
                <a:ea typeface="Microsoft YaHei"/>
              </a:rPr>
              <a:t>少量热输运与候选</a:t>
            </a:r>
          </a:p>
          <a:p>
            <a:pPr>
              <a:lnSpc>
                <a:spcPct val="122000"/>
              </a:lnSpc>
              <a:spcBef>
                <a:spcPts val="0"/>
              </a:spcBef>
              <a:spcAft>
                <a:spcPts val="0"/>
              </a:spcAft>
              <a:defRPr sz="2000" b="0">
                <a:solidFill>
                  <a:srgbClr val="203946"/>
                </a:solidFill>
                <a:latin typeface="Microsoft YaHei"/>
              </a:defRPr>
            </a:pPr>
            <a:r>
              <a:rPr>
                <a:ea typeface="Microsoft YaHei"/>
              </a:rPr>
              <a:t>数据、论文与总结</a:t>
            </a:r>
          </a:p>
        </p:txBody>
      </p:sp>
      <p:sp>
        <p:nvSpPr>
          <p:cNvPr id="21" name="Rounded Rectangle 20"/>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1800" b="1">
                <a:solidFill>
                  <a:srgbClr val="FFFFFF"/>
                </a:solidFill>
                <a:latin typeface="Microsoft YaHei"/>
              </a:defRPr>
            </a:pPr>
            <a:r>
              <a:rPr>
                <a:ea typeface="Microsoft YaHei"/>
              </a:rPr>
              <a:t>预期成果：畸变—散射作用路径；1—2个候选或反例；论文1—2篇</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汇报结语</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预期贡献：说明“结构起因、散射路径、输运条件”</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研究结论不依赖“必然提升ZT”的前设。</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20</a:t>
            </a:r>
          </a:p>
        </p:txBody>
      </p:sp>
      <p:sp>
        <p:nvSpPr>
          <p:cNvPr id="9" name="TextBox 8"/>
          <p:cNvSpPr txBox="1"/>
          <p:nvPr/>
        </p:nvSpPr>
        <p:spPr>
          <a:xfrm>
            <a:off x="731520" y="1938528"/>
            <a:ext cx="731520" cy="557784"/>
          </a:xfrm>
          <a:prstGeom prst="rect">
            <a:avLst/>
          </a:prstGeom>
          <a:noFill/>
        </p:spPr>
        <p:txBody>
          <a:bodyPr wrap="none" lIns="0" rIns="0" tIns="0" bIns="0" anchor="t">
            <a:spAutoFit/>
          </a:bodyPr>
          <a:lstStyle/>
          <a:p>
            <a:pPr>
              <a:lnSpc>
                <a:spcPct val="122000"/>
              </a:lnSpc>
              <a:spcBef>
                <a:spcPts val="0"/>
              </a:spcBef>
              <a:spcAft>
                <a:spcPts val="0"/>
              </a:spcAft>
              <a:defRPr sz="3400" b="1">
                <a:solidFill>
                  <a:srgbClr val="117F80"/>
                </a:solidFill>
                <a:latin typeface="Microsoft YaHei"/>
              </a:defRPr>
            </a:pPr>
            <a:r>
              <a:rPr>
                <a:ea typeface="Microsoft YaHei"/>
              </a:rPr>
              <a:t>01</a:t>
            </a:r>
          </a:p>
        </p:txBody>
      </p:sp>
      <p:sp>
        <p:nvSpPr>
          <p:cNvPr id="10" name="TextBox 9"/>
          <p:cNvSpPr txBox="1"/>
          <p:nvPr/>
        </p:nvSpPr>
        <p:spPr>
          <a:xfrm>
            <a:off x="1828800" y="1965960"/>
            <a:ext cx="2816352" cy="493776"/>
          </a:xfrm>
          <a:prstGeom prst="rect">
            <a:avLst/>
          </a:prstGeom>
          <a:noFill/>
        </p:spPr>
        <p:txBody>
          <a:bodyPr wrap="none" lIns="0" rIns="0" tIns="0" bIns="0" anchor="t">
            <a:spAutoFit/>
          </a:bodyPr>
          <a:lstStyle/>
          <a:p>
            <a:pPr>
              <a:lnSpc>
                <a:spcPct val="122000"/>
              </a:lnSpc>
              <a:spcBef>
                <a:spcPts val="0"/>
              </a:spcBef>
              <a:spcAft>
                <a:spcPts val="0"/>
              </a:spcAft>
              <a:defRPr sz="2500" b="1">
                <a:solidFill>
                  <a:srgbClr val="122B3A"/>
                </a:solidFill>
                <a:latin typeface="Microsoft YaHei"/>
              </a:defRPr>
            </a:pPr>
            <a:r>
              <a:rPr>
                <a:ea typeface="Microsoft YaHei"/>
              </a:rPr>
              <a:t>结构起因</a:t>
            </a:r>
          </a:p>
        </p:txBody>
      </p:sp>
      <p:sp>
        <p:nvSpPr>
          <p:cNvPr id="11" name="TextBox 10"/>
          <p:cNvSpPr txBox="1"/>
          <p:nvPr/>
        </p:nvSpPr>
        <p:spPr>
          <a:xfrm>
            <a:off x="5010912" y="2029968"/>
            <a:ext cx="6437376" cy="548640"/>
          </a:xfrm>
          <a:prstGeom prst="rect">
            <a:avLst/>
          </a:prstGeom>
          <a:noFill/>
        </p:spPr>
        <p:txBody>
          <a:bodyPr wrap="none" lIns="0" rIns="0" tIns="0" bIns="0" anchor="t">
            <a:spAutoFit/>
          </a:bodyPr>
          <a:lstStyle/>
          <a:p>
            <a:pPr>
              <a:lnSpc>
                <a:spcPct val="122000"/>
              </a:lnSpc>
              <a:spcBef>
                <a:spcPts val="0"/>
              </a:spcBef>
              <a:spcAft>
                <a:spcPts val="0"/>
              </a:spcAft>
              <a:defRPr sz="2100" b="0">
                <a:solidFill>
                  <a:srgbClr val="203946"/>
                </a:solidFill>
                <a:latin typeface="Microsoft YaHei"/>
              </a:defRPr>
            </a:pPr>
            <a:r>
              <a:rPr>
                <a:ea typeface="Microsoft YaHei"/>
              </a:rPr>
              <a:t>区分化学取代与几何弛豫的贡献</a:t>
            </a:r>
          </a:p>
        </p:txBody>
      </p:sp>
      <p:sp>
        <p:nvSpPr>
          <p:cNvPr id="12" name="TextBox 11"/>
          <p:cNvSpPr txBox="1"/>
          <p:nvPr/>
        </p:nvSpPr>
        <p:spPr>
          <a:xfrm>
            <a:off x="731520" y="3136392"/>
            <a:ext cx="731520" cy="557784"/>
          </a:xfrm>
          <a:prstGeom prst="rect">
            <a:avLst/>
          </a:prstGeom>
          <a:noFill/>
        </p:spPr>
        <p:txBody>
          <a:bodyPr wrap="none" lIns="0" rIns="0" tIns="0" bIns="0" anchor="t">
            <a:spAutoFit/>
          </a:bodyPr>
          <a:lstStyle/>
          <a:p>
            <a:pPr>
              <a:lnSpc>
                <a:spcPct val="122000"/>
              </a:lnSpc>
              <a:spcBef>
                <a:spcPts val="0"/>
              </a:spcBef>
              <a:spcAft>
                <a:spcPts val="0"/>
              </a:spcAft>
              <a:defRPr sz="3400" b="1">
                <a:solidFill>
                  <a:srgbClr val="117F80"/>
                </a:solidFill>
                <a:latin typeface="Microsoft YaHei"/>
              </a:defRPr>
            </a:pPr>
            <a:r>
              <a:rPr>
                <a:ea typeface="Microsoft YaHei"/>
              </a:rPr>
              <a:t>02</a:t>
            </a:r>
          </a:p>
        </p:txBody>
      </p:sp>
      <p:sp>
        <p:nvSpPr>
          <p:cNvPr id="13" name="TextBox 12"/>
          <p:cNvSpPr txBox="1"/>
          <p:nvPr/>
        </p:nvSpPr>
        <p:spPr>
          <a:xfrm>
            <a:off x="1828800" y="3163824"/>
            <a:ext cx="2816352" cy="493776"/>
          </a:xfrm>
          <a:prstGeom prst="rect">
            <a:avLst/>
          </a:prstGeom>
          <a:noFill/>
        </p:spPr>
        <p:txBody>
          <a:bodyPr wrap="none" lIns="0" rIns="0" tIns="0" bIns="0" anchor="t">
            <a:spAutoFit/>
          </a:bodyPr>
          <a:lstStyle/>
          <a:p>
            <a:pPr>
              <a:lnSpc>
                <a:spcPct val="122000"/>
              </a:lnSpc>
              <a:spcBef>
                <a:spcPts val="0"/>
              </a:spcBef>
              <a:spcAft>
                <a:spcPts val="0"/>
              </a:spcAft>
              <a:defRPr sz="2500" b="1">
                <a:solidFill>
                  <a:srgbClr val="122B3A"/>
                </a:solidFill>
                <a:latin typeface="Microsoft YaHei"/>
              </a:defRPr>
            </a:pPr>
            <a:r>
              <a:rPr>
                <a:ea typeface="Microsoft YaHei"/>
              </a:rPr>
              <a:t>散射路径</a:t>
            </a:r>
          </a:p>
        </p:txBody>
      </p:sp>
      <p:sp>
        <p:nvSpPr>
          <p:cNvPr id="14" name="TextBox 13"/>
          <p:cNvSpPr txBox="1"/>
          <p:nvPr/>
        </p:nvSpPr>
        <p:spPr>
          <a:xfrm>
            <a:off x="5010912" y="3227832"/>
            <a:ext cx="6437376" cy="548640"/>
          </a:xfrm>
          <a:prstGeom prst="rect">
            <a:avLst/>
          </a:prstGeom>
          <a:noFill/>
        </p:spPr>
        <p:txBody>
          <a:bodyPr wrap="none" lIns="0" rIns="0" tIns="0" bIns="0" anchor="t">
            <a:spAutoFit/>
          </a:bodyPr>
          <a:lstStyle/>
          <a:p>
            <a:pPr>
              <a:lnSpc>
                <a:spcPct val="122000"/>
              </a:lnSpc>
              <a:spcBef>
                <a:spcPts val="0"/>
              </a:spcBef>
              <a:spcAft>
                <a:spcPts val="0"/>
              </a:spcAft>
              <a:defRPr sz="2100" b="0">
                <a:solidFill>
                  <a:srgbClr val="203946"/>
                </a:solidFill>
                <a:latin typeface="Microsoft YaHei"/>
              </a:defRPr>
            </a:pPr>
            <a:r>
              <a:rPr>
                <a:ea typeface="Microsoft YaHei"/>
              </a:rPr>
              <a:t>联系局域畸变、带边态与主要散射通道</a:t>
            </a:r>
          </a:p>
        </p:txBody>
      </p:sp>
      <p:sp>
        <p:nvSpPr>
          <p:cNvPr id="15" name="TextBox 14"/>
          <p:cNvSpPr txBox="1"/>
          <p:nvPr/>
        </p:nvSpPr>
        <p:spPr>
          <a:xfrm>
            <a:off x="731520" y="4334256"/>
            <a:ext cx="731520" cy="557784"/>
          </a:xfrm>
          <a:prstGeom prst="rect">
            <a:avLst/>
          </a:prstGeom>
          <a:noFill/>
        </p:spPr>
        <p:txBody>
          <a:bodyPr wrap="none" lIns="0" rIns="0" tIns="0" bIns="0" anchor="t">
            <a:spAutoFit/>
          </a:bodyPr>
          <a:lstStyle/>
          <a:p>
            <a:pPr>
              <a:lnSpc>
                <a:spcPct val="122000"/>
              </a:lnSpc>
              <a:spcBef>
                <a:spcPts val="0"/>
              </a:spcBef>
              <a:spcAft>
                <a:spcPts val="0"/>
              </a:spcAft>
              <a:defRPr sz="3400" b="1">
                <a:solidFill>
                  <a:srgbClr val="117F80"/>
                </a:solidFill>
                <a:latin typeface="Microsoft YaHei"/>
              </a:defRPr>
            </a:pPr>
            <a:r>
              <a:rPr>
                <a:ea typeface="Microsoft YaHei"/>
              </a:rPr>
              <a:t>03</a:t>
            </a:r>
          </a:p>
        </p:txBody>
      </p:sp>
      <p:sp>
        <p:nvSpPr>
          <p:cNvPr id="16" name="TextBox 15"/>
          <p:cNvSpPr txBox="1"/>
          <p:nvPr/>
        </p:nvSpPr>
        <p:spPr>
          <a:xfrm>
            <a:off x="1828800" y="4361688"/>
            <a:ext cx="2816352" cy="493776"/>
          </a:xfrm>
          <a:prstGeom prst="rect">
            <a:avLst/>
          </a:prstGeom>
          <a:noFill/>
        </p:spPr>
        <p:txBody>
          <a:bodyPr wrap="none" lIns="0" rIns="0" tIns="0" bIns="0" anchor="t">
            <a:spAutoFit/>
          </a:bodyPr>
          <a:lstStyle/>
          <a:p>
            <a:pPr>
              <a:lnSpc>
                <a:spcPct val="122000"/>
              </a:lnSpc>
              <a:spcBef>
                <a:spcPts val="0"/>
              </a:spcBef>
              <a:spcAft>
                <a:spcPts val="0"/>
              </a:spcAft>
              <a:defRPr sz="2500" b="1">
                <a:solidFill>
                  <a:srgbClr val="122B3A"/>
                </a:solidFill>
                <a:latin typeface="Microsoft YaHei"/>
              </a:defRPr>
            </a:pPr>
            <a:r>
              <a:rPr>
                <a:ea typeface="Microsoft YaHei"/>
              </a:rPr>
              <a:t>输运条件</a:t>
            </a:r>
          </a:p>
        </p:txBody>
      </p:sp>
      <p:sp>
        <p:nvSpPr>
          <p:cNvPr id="17" name="TextBox 16"/>
          <p:cNvSpPr txBox="1"/>
          <p:nvPr/>
        </p:nvSpPr>
        <p:spPr>
          <a:xfrm>
            <a:off x="5010912" y="4425696"/>
            <a:ext cx="6437376" cy="548640"/>
          </a:xfrm>
          <a:prstGeom prst="rect">
            <a:avLst/>
          </a:prstGeom>
          <a:noFill/>
        </p:spPr>
        <p:txBody>
          <a:bodyPr wrap="none" lIns="0" rIns="0" tIns="0" bIns="0" anchor="t">
            <a:spAutoFit/>
          </a:bodyPr>
          <a:lstStyle/>
          <a:p>
            <a:pPr>
              <a:lnSpc>
                <a:spcPct val="122000"/>
              </a:lnSpc>
              <a:spcBef>
                <a:spcPts val="0"/>
              </a:spcBef>
              <a:spcAft>
                <a:spcPts val="0"/>
              </a:spcAft>
              <a:defRPr sz="2100" b="0">
                <a:solidFill>
                  <a:srgbClr val="203946"/>
                </a:solidFill>
                <a:latin typeface="Microsoft YaHei"/>
              </a:defRPr>
            </a:pPr>
            <a:r>
              <a:rPr>
                <a:ea typeface="Microsoft YaHei"/>
              </a:rPr>
              <a:t>在构型与缺陷条件下验证迁移率和PF</a:t>
            </a:r>
          </a:p>
        </p:txBody>
      </p:sp>
      <p:sp>
        <p:nvSpPr>
          <p:cNvPr id="18" name="Rounded Rectangle 17"/>
          <p:cNvSpPr/>
          <p:nvPr/>
        </p:nvSpPr>
        <p:spPr>
          <a:xfrm>
            <a:off x="676656" y="5687568"/>
            <a:ext cx="10835640" cy="530352"/>
          </a:xfrm>
          <a:prstGeom prst="roundRect">
            <a:avLst>
              <a:gd name="adj" fmla="val 10000"/>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2400" b="1">
                <a:solidFill>
                  <a:srgbClr val="FFFFFF"/>
                </a:solidFill>
                <a:latin typeface="Microsoft YaHei"/>
              </a:defRPr>
            </a:pPr>
            <a:r>
              <a:rPr>
                <a:ea typeface="Microsoft YaHei"/>
              </a:rPr>
              <a:t>请各位专家指正</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附录 A｜提交前核实</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备查｜相关省基金与本申请的任务边界</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依据2026版完整申请书第28页简历列示；申请时状态须更新。</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21</a:t>
            </a:r>
          </a:p>
        </p:txBody>
      </p:sp>
      <p:sp>
        <p:nvSpPr>
          <p:cNvPr id="9" name="Rounded Rectangle 8"/>
          <p:cNvSpPr/>
          <p:nvPr/>
        </p:nvSpPr>
        <p:spPr>
          <a:xfrm>
            <a:off x="694944" y="1938528"/>
            <a:ext cx="5257800"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1938528"/>
            <a:ext cx="41148" cy="3456432"/>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12264"/>
            <a:ext cx="4864608"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已有项目信息</a:t>
            </a:r>
          </a:p>
        </p:txBody>
      </p:sp>
      <p:sp>
        <p:nvSpPr>
          <p:cNvPr id="12" name="TextBox 11"/>
          <p:cNvSpPr txBox="1"/>
          <p:nvPr/>
        </p:nvSpPr>
        <p:spPr>
          <a:xfrm>
            <a:off x="896112" y="2798064"/>
            <a:ext cx="4855464" cy="2487168"/>
          </a:xfrm>
          <a:prstGeom prst="rect">
            <a:avLst/>
          </a:prstGeom>
          <a:noFill/>
        </p:spPr>
        <p:txBody>
          <a:bodyPr wrap="none" lIns="0" rIns="0" tIns="0" bIns="0" anchor="t">
            <a:spAutoFit/>
          </a:bodyPr>
          <a:lstStyle/>
          <a:p>
            <a:pPr>
              <a:lnSpc>
                <a:spcPct val="122000"/>
              </a:lnSpc>
              <a:spcBef>
                <a:spcPts val="0"/>
              </a:spcBef>
              <a:spcAft>
                <a:spcPts val="0"/>
              </a:spcAft>
              <a:defRPr sz="1800" b="0">
                <a:solidFill>
                  <a:srgbClr val="203946"/>
                </a:solidFill>
                <a:latin typeface="Microsoft YaHei"/>
              </a:defRPr>
            </a:pPr>
            <a:r>
              <a:rPr>
                <a:ea typeface="Microsoft YaHei"/>
              </a:rPr>
              <a:t>山东省自然科学基金｜青年面上</a:t>
            </a:r>
          </a:p>
          <a:p>
            <a:pPr>
              <a:lnSpc>
                <a:spcPct val="122000"/>
              </a:lnSpc>
              <a:spcBef>
                <a:spcPts val="0"/>
              </a:spcBef>
              <a:spcAft>
                <a:spcPts val="0"/>
              </a:spcAft>
              <a:defRPr sz="1800" b="0">
                <a:solidFill>
                  <a:srgbClr val="203946"/>
                </a:solidFill>
                <a:latin typeface="Microsoft YaHei"/>
              </a:defRPr>
            </a:pPr>
            <a:r>
              <a:rPr>
                <a:ea typeface="Microsoft YaHei"/>
              </a:rPr>
              <a:t>ZR2024QA209｜8万元</a:t>
            </a:r>
          </a:p>
          <a:p>
            <a:pPr>
              <a:lnSpc>
                <a:spcPct val="122000"/>
              </a:lnSpc>
              <a:spcBef>
                <a:spcPts val="0"/>
              </a:spcBef>
              <a:spcAft>
                <a:spcPts val="0"/>
              </a:spcAft>
              <a:defRPr sz="1800" b="0">
                <a:solidFill>
                  <a:srgbClr val="203946"/>
                </a:solidFill>
                <a:latin typeface="Microsoft YaHei"/>
              </a:defRPr>
            </a:pPr>
            <a:r>
              <a:rPr>
                <a:ea typeface="Microsoft YaHei"/>
              </a:rPr>
              <a:t>2025.01—2027.12｜主持</a:t>
            </a:r>
          </a:p>
          <a:p>
            <a:pPr>
              <a:lnSpc>
                <a:spcPct val="122000"/>
              </a:lnSpc>
              <a:spcBef>
                <a:spcPts val="0"/>
              </a:spcBef>
              <a:spcAft>
                <a:spcPts val="0"/>
              </a:spcAft>
              <a:defRPr sz="1800" b="0">
                <a:solidFill>
                  <a:srgbClr val="203946"/>
                </a:solidFill>
                <a:latin typeface="Microsoft YaHei"/>
              </a:defRPr>
            </a:pPr>
          </a:p>
          <a:p>
            <a:pPr>
              <a:lnSpc>
                <a:spcPct val="122000"/>
              </a:lnSpc>
              <a:spcBef>
                <a:spcPts val="0"/>
              </a:spcBef>
              <a:spcAft>
                <a:spcPts val="0"/>
              </a:spcAft>
              <a:defRPr sz="1800" b="0">
                <a:solidFill>
                  <a:srgbClr val="203946"/>
                </a:solidFill>
                <a:latin typeface="Microsoft YaHei"/>
              </a:defRPr>
            </a:pPr>
            <a:r>
              <a:rPr>
                <a:ea typeface="Microsoft YaHei"/>
              </a:rPr>
              <a:t>CaAl</a:t>
            </a:r>
            <a:r>
              <a:rPr>
                <a:latin typeface="Cambria"/>
                <a:ea typeface="Microsoft YaHei"/>
              </a:rPr>
              <a:t>₂</a:t>
            </a:r>
            <a:r>
              <a:rPr>
                <a:ea typeface="Microsoft YaHei"/>
              </a:rPr>
              <a:t>Si</a:t>
            </a:r>
            <a:r>
              <a:rPr>
                <a:latin typeface="Cambria"/>
                <a:ea typeface="Microsoft YaHei"/>
              </a:rPr>
              <a:t>₂</a:t>
            </a:r>
            <a:r>
              <a:rPr>
                <a:ea typeface="Microsoft YaHei"/>
              </a:rPr>
              <a:t>结构Zintl相</a:t>
            </a:r>
          </a:p>
          <a:p>
            <a:pPr>
              <a:lnSpc>
                <a:spcPct val="122000"/>
              </a:lnSpc>
              <a:spcBef>
                <a:spcPts val="0"/>
              </a:spcBef>
              <a:spcAft>
                <a:spcPts val="0"/>
              </a:spcAft>
              <a:defRPr sz="1800" b="0">
                <a:solidFill>
                  <a:srgbClr val="203946"/>
                </a:solidFill>
                <a:latin typeface="Microsoft YaHei"/>
              </a:defRPr>
            </a:pPr>
            <a:r>
              <a:rPr>
                <a:ea typeface="Microsoft YaHei"/>
              </a:rPr>
              <a:t>第一性原理研究与性能设计</a:t>
            </a:r>
          </a:p>
        </p:txBody>
      </p:sp>
      <p:sp>
        <p:nvSpPr>
          <p:cNvPr id="13" name="Rounded Rectangle 12"/>
          <p:cNvSpPr/>
          <p:nvPr/>
        </p:nvSpPr>
        <p:spPr>
          <a:xfrm>
            <a:off x="6181344" y="1938528"/>
            <a:ext cx="5321808"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1344" y="1938528"/>
            <a:ext cx="41148" cy="3456432"/>
          </a:xfrm>
          <a:prstGeom prst="rect">
            <a:avLst/>
          </a:prstGeom>
          <a:solidFill>
            <a:srgbClr val="C57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2112264"/>
            <a:ext cx="492861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必须用任务书核实</a:t>
            </a:r>
          </a:p>
        </p:txBody>
      </p:sp>
      <p:sp>
        <p:nvSpPr>
          <p:cNvPr id="16" name="TextBox 15"/>
          <p:cNvSpPr txBox="1"/>
          <p:nvPr/>
        </p:nvSpPr>
        <p:spPr>
          <a:xfrm>
            <a:off x="6382512" y="2798064"/>
            <a:ext cx="4919472" cy="2487168"/>
          </a:xfrm>
          <a:prstGeom prst="rect">
            <a:avLst/>
          </a:prstGeom>
          <a:noFill/>
        </p:spPr>
        <p:txBody>
          <a:bodyPr wrap="none" lIns="0" rIns="0" tIns="0" bIns="0" anchor="t">
            <a:spAutoFit/>
          </a:bodyPr>
          <a:lstStyle/>
          <a:p>
            <a:pPr>
              <a:lnSpc>
                <a:spcPct val="122000"/>
              </a:lnSpc>
              <a:spcBef>
                <a:spcPts val="0"/>
              </a:spcBef>
              <a:spcAft>
                <a:spcPts val="0"/>
              </a:spcAft>
              <a:defRPr sz="1800" b="0">
                <a:solidFill>
                  <a:srgbClr val="203946"/>
                </a:solidFill>
                <a:latin typeface="Microsoft YaHei"/>
              </a:defRPr>
            </a:pPr>
            <a:r>
              <a:rPr>
                <a:ea typeface="Microsoft YaHei"/>
              </a:rPr>
              <a:t>已资助的具体问题与任务</a:t>
            </a:r>
          </a:p>
          <a:p>
            <a:pPr>
              <a:lnSpc>
                <a:spcPct val="122000"/>
              </a:lnSpc>
              <a:spcBef>
                <a:spcPts val="0"/>
              </a:spcBef>
              <a:spcAft>
                <a:spcPts val="0"/>
              </a:spcAft>
              <a:defRPr sz="1800" b="0">
                <a:solidFill>
                  <a:srgbClr val="203946"/>
                </a:solidFill>
                <a:latin typeface="Microsoft YaHei"/>
              </a:defRPr>
            </a:pPr>
            <a:r>
              <a:rPr>
                <a:ea typeface="Microsoft YaHei"/>
              </a:rPr>
              <a:t>已经形成的成果与数据</a:t>
            </a:r>
          </a:p>
          <a:p>
            <a:pPr>
              <a:lnSpc>
                <a:spcPct val="122000"/>
              </a:lnSpc>
              <a:spcBef>
                <a:spcPts val="0"/>
              </a:spcBef>
              <a:spcAft>
                <a:spcPts val="0"/>
              </a:spcAft>
              <a:defRPr sz="1800" b="0">
                <a:solidFill>
                  <a:srgbClr val="203946"/>
                </a:solidFill>
                <a:latin typeface="Microsoft YaHei"/>
              </a:defRPr>
            </a:pPr>
            <a:r>
              <a:rPr>
                <a:ea typeface="Microsoft YaHei"/>
              </a:rPr>
              <a:t>本申请新增内容及其必要性</a:t>
            </a:r>
          </a:p>
          <a:p>
            <a:pPr>
              <a:lnSpc>
                <a:spcPct val="122000"/>
              </a:lnSpc>
              <a:spcBef>
                <a:spcPts val="0"/>
              </a:spcBef>
              <a:spcAft>
                <a:spcPts val="0"/>
              </a:spcAft>
              <a:defRPr sz="1800" b="0">
                <a:solidFill>
                  <a:srgbClr val="203946"/>
                </a:solidFill>
                <a:latin typeface="Microsoft YaHei"/>
              </a:defRPr>
            </a:pPr>
            <a:r>
              <a:rPr>
                <a:ea typeface="Microsoft YaHei"/>
              </a:rPr>
              <a:t>经费与工作量的区分</a:t>
            </a:r>
          </a:p>
          <a:p>
            <a:pPr>
              <a:lnSpc>
                <a:spcPct val="122000"/>
              </a:lnSpc>
              <a:spcBef>
                <a:spcPts val="0"/>
              </a:spcBef>
              <a:spcAft>
                <a:spcPts val="0"/>
              </a:spcAft>
              <a:defRPr sz="1800" b="0">
                <a:solidFill>
                  <a:srgbClr val="203946"/>
                </a:solidFill>
                <a:latin typeface="Microsoft YaHei"/>
              </a:defRPr>
            </a:pPr>
          </a:p>
          <a:p>
            <a:pPr>
              <a:lnSpc>
                <a:spcPct val="122000"/>
              </a:lnSpc>
              <a:spcBef>
                <a:spcPts val="0"/>
              </a:spcBef>
              <a:spcAft>
                <a:spcPts val="0"/>
              </a:spcAft>
              <a:defRPr sz="1800" b="0">
                <a:solidFill>
                  <a:srgbClr val="203946"/>
                </a:solidFill>
                <a:latin typeface="Microsoft YaHei"/>
              </a:defRPr>
            </a:pPr>
            <a:r>
              <a:rPr>
                <a:ea typeface="Microsoft YaHei"/>
              </a:rPr>
              <a:t>不能仅据题名作“无重复”结论</a:t>
            </a:r>
          </a:p>
        </p:txBody>
      </p:sp>
      <p:sp>
        <p:nvSpPr>
          <p:cNvPr id="17" name="Rounded Rectangle 16"/>
          <p:cNvSpPr/>
          <p:nvPr/>
        </p:nvSpPr>
        <p:spPr>
          <a:xfrm>
            <a:off x="676656" y="5687568"/>
            <a:ext cx="10835640" cy="530352"/>
          </a:xfrm>
          <a:prstGeom prst="roundRect">
            <a:avLst>
              <a:gd name="adj" fmla="val 10000"/>
            </a:avLst>
          </a:prstGeom>
          <a:solidFill>
            <a:srgbClr val="12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5769864"/>
            <a:ext cx="10424160" cy="384048"/>
          </a:xfrm>
          <a:prstGeom prst="rect">
            <a:avLst/>
          </a:prstGeom>
          <a:noFill/>
        </p:spPr>
        <p:txBody>
          <a:bodyPr wrap="none" lIns="0" rIns="0" tIns="0" bIns="0" anchor="t">
            <a:spAutoFit/>
          </a:bodyPr>
          <a:lstStyle/>
          <a:p>
            <a:pPr>
              <a:lnSpc>
                <a:spcPct val="122000"/>
              </a:lnSpc>
              <a:spcBef>
                <a:spcPts val="0"/>
              </a:spcBef>
              <a:spcAft>
                <a:spcPts val="0"/>
              </a:spcAft>
              <a:defRPr sz="1800" b="1">
                <a:solidFill>
                  <a:srgbClr val="FFFFFF"/>
                </a:solidFill>
                <a:latin typeface="Microsoft YaHei"/>
              </a:defRPr>
            </a:pPr>
            <a:r>
              <a:rPr>
                <a:ea typeface="Microsoft YaHei"/>
              </a:rPr>
              <a:t>草稿已列示省项目；具体差异与2027实际状态仍待申请人核实</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附录 B｜证据状态</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备查｜本次修订解决的问题与待补材料</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用于内部论证与答辩准备；正式提交前移除未完成的占位内容。</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22</a:t>
            </a:r>
          </a:p>
        </p:txBody>
      </p:sp>
      <p:sp>
        <p:nvSpPr>
          <p:cNvPr id="9" name="Rounded Rectangle 8"/>
          <p:cNvSpPr/>
          <p:nvPr/>
        </p:nvSpPr>
        <p:spPr>
          <a:xfrm>
            <a:off x="694944" y="1938528"/>
            <a:ext cx="5257800"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1938528"/>
            <a:ext cx="41148" cy="3456432"/>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12264"/>
            <a:ext cx="4864608"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已在稿件中修订</a:t>
            </a:r>
          </a:p>
        </p:txBody>
      </p:sp>
      <p:sp>
        <p:nvSpPr>
          <p:cNvPr id="12" name="TextBox 11"/>
          <p:cNvSpPr txBox="1"/>
          <p:nvPr/>
        </p:nvSpPr>
        <p:spPr>
          <a:xfrm>
            <a:off x="896112" y="2642616"/>
            <a:ext cx="4855464"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文本与方案修订已完成</a:t>
            </a:r>
          </a:p>
        </p:txBody>
      </p:sp>
      <p:sp>
        <p:nvSpPr>
          <p:cNvPr id="13" name="TextBox 12"/>
          <p:cNvSpPr txBox="1"/>
          <p:nvPr/>
        </p:nvSpPr>
        <p:spPr>
          <a:xfrm>
            <a:off x="896112" y="3099816"/>
            <a:ext cx="4855464" cy="2185415"/>
          </a:xfrm>
          <a:prstGeom prst="rect">
            <a:avLst/>
          </a:prstGeom>
          <a:noFill/>
        </p:spPr>
        <p:txBody>
          <a:bodyPr wrap="none" lIns="0" rIns="0" tIns="0" bIns="0" anchor="t">
            <a:spAutoFit/>
          </a:bodyPr>
          <a:lstStyle/>
          <a:p>
            <a:pPr>
              <a:lnSpc>
                <a:spcPct val="122000"/>
              </a:lnSpc>
              <a:spcBef>
                <a:spcPts val="0"/>
              </a:spcBef>
              <a:spcAft>
                <a:spcPts val="0"/>
              </a:spcAft>
              <a:defRPr sz="1800" b="0">
                <a:solidFill>
                  <a:srgbClr val="203946"/>
                </a:solidFill>
                <a:latin typeface="Microsoft YaHei"/>
              </a:defRPr>
            </a:pPr>
            <a:r>
              <a:rPr>
                <a:ea typeface="Microsoft YaHei"/>
              </a:rPr>
              <a:t>空间群编号与元素分族</a:t>
            </a:r>
          </a:p>
          <a:p>
            <a:pPr>
              <a:lnSpc>
                <a:spcPct val="122000"/>
              </a:lnSpc>
              <a:spcBef>
                <a:spcPts val="0"/>
              </a:spcBef>
              <a:spcAft>
                <a:spcPts val="0"/>
              </a:spcAft>
              <a:defRPr sz="1800" b="0">
                <a:solidFill>
                  <a:srgbClr val="203946"/>
                </a:solidFill>
                <a:latin typeface="Microsoft YaHei"/>
              </a:defRPr>
            </a:pPr>
            <a:r>
              <a:rPr>
                <a:ea typeface="Microsoft YaHei"/>
              </a:rPr>
              <a:t>错误引文与过度性能承诺</a:t>
            </a:r>
          </a:p>
          <a:p>
            <a:pPr>
              <a:lnSpc>
                <a:spcPct val="122000"/>
              </a:lnSpc>
              <a:spcBef>
                <a:spcPts val="0"/>
              </a:spcBef>
              <a:spcAft>
                <a:spcPts val="0"/>
              </a:spcAft>
              <a:defRPr sz="1800" b="0">
                <a:solidFill>
                  <a:srgbClr val="203946"/>
                </a:solidFill>
                <a:latin typeface="Microsoft YaHei"/>
              </a:defRPr>
            </a:pPr>
            <a:r>
              <a:rPr>
                <a:ea typeface="Microsoft YaHei"/>
              </a:rPr>
              <a:t>三项内容及对应目标</a:t>
            </a:r>
          </a:p>
          <a:p>
            <a:pPr>
              <a:lnSpc>
                <a:spcPct val="122000"/>
              </a:lnSpc>
              <a:spcBef>
                <a:spcPts val="0"/>
              </a:spcBef>
              <a:spcAft>
                <a:spcPts val="0"/>
              </a:spcAft>
              <a:defRPr sz="1800" b="0">
                <a:solidFill>
                  <a:srgbClr val="203946"/>
                </a:solidFill>
                <a:latin typeface="Microsoft YaHei"/>
              </a:defRPr>
            </a:pPr>
            <a:r>
              <a:rPr>
                <a:ea typeface="Microsoft YaHei"/>
              </a:rPr>
              <a:t>显式散射与风险退路</a:t>
            </a:r>
          </a:p>
          <a:p>
            <a:pPr>
              <a:lnSpc>
                <a:spcPct val="122000"/>
              </a:lnSpc>
              <a:spcBef>
                <a:spcPts val="0"/>
              </a:spcBef>
              <a:spcAft>
                <a:spcPts val="0"/>
              </a:spcAft>
              <a:defRPr sz="1800" b="0">
                <a:solidFill>
                  <a:srgbClr val="203946"/>
                </a:solidFill>
                <a:latin typeface="Microsoft YaHei"/>
              </a:defRPr>
            </a:pPr>
            <a:r>
              <a:rPr>
                <a:ea typeface="Microsoft YaHei"/>
              </a:rPr>
              <a:t>CPU / GPU资源分列</a:t>
            </a:r>
          </a:p>
        </p:txBody>
      </p:sp>
      <p:sp>
        <p:nvSpPr>
          <p:cNvPr id="14" name="Rounded Rectangle 13"/>
          <p:cNvSpPr/>
          <p:nvPr/>
        </p:nvSpPr>
        <p:spPr>
          <a:xfrm>
            <a:off x="6181344" y="1938528"/>
            <a:ext cx="5321808" cy="345643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1344" y="1938528"/>
            <a:ext cx="41148" cy="3456432"/>
          </a:xfrm>
          <a:prstGeom prst="rect">
            <a:avLst/>
          </a:prstGeom>
          <a:solidFill>
            <a:srgbClr val="C57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2112264"/>
            <a:ext cx="4928616" cy="484632"/>
          </a:xfrm>
          <a:prstGeom prst="rect">
            <a:avLst/>
          </a:prstGeom>
          <a:noFill/>
        </p:spPr>
        <p:txBody>
          <a:bodyPr wrap="none" lIns="0" rIns="0" tIns="0" bIns="0" anchor="t">
            <a:spAutoFit/>
          </a:bodyPr>
          <a:lstStyle/>
          <a:p>
            <a:pPr>
              <a:lnSpc>
                <a:spcPct val="122000"/>
              </a:lnSpc>
              <a:spcBef>
                <a:spcPts val="0"/>
              </a:spcBef>
              <a:spcAft>
                <a:spcPts val="0"/>
              </a:spcAft>
              <a:defRPr sz="2100" b="1">
                <a:solidFill>
                  <a:srgbClr val="122B3A"/>
                </a:solidFill>
                <a:latin typeface="Microsoft YaHei"/>
              </a:defRPr>
            </a:pPr>
            <a:r>
              <a:rPr>
                <a:ea typeface="Microsoft YaHei"/>
              </a:rPr>
              <a:t>提交前仍需核实</a:t>
            </a:r>
          </a:p>
        </p:txBody>
      </p:sp>
      <p:sp>
        <p:nvSpPr>
          <p:cNvPr id="17" name="TextBox 16"/>
          <p:cNvSpPr txBox="1"/>
          <p:nvPr/>
        </p:nvSpPr>
        <p:spPr>
          <a:xfrm>
            <a:off x="6382512" y="2642616"/>
            <a:ext cx="4919472" cy="36576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C57B46"/>
                </a:solidFill>
                <a:latin typeface="Microsoft YaHei"/>
              </a:defRPr>
            </a:pPr>
            <a:r>
              <a:rPr>
                <a:ea typeface="Microsoft YaHei"/>
              </a:rPr>
              <a:t>不以假设替代事实</a:t>
            </a:r>
          </a:p>
        </p:txBody>
      </p:sp>
      <p:sp>
        <p:nvSpPr>
          <p:cNvPr id="18" name="TextBox 17"/>
          <p:cNvSpPr txBox="1"/>
          <p:nvPr/>
        </p:nvSpPr>
        <p:spPr>
          <a:xfrm>
            <a:off x="6382512" y="3099816"/>
            <a:ext cx="4919472" cy="2185415"/>
          </a:xfrm>
          <a:prstGeom prst="rect">
            <a:avLst/>
          </a:prstGeom>
          <a:noFill/>
        </p:spPr>
        <p:txBody>
          <a:bodyPr wrap="none" lIns="0" rIns="0" tIns="0" bIns="0" anchor="t">
            <a:spAutoFit/>
          </a:bodyPr>
          <a:lstStyle/>
          <a:p>
            <a:pPr>
              <a:lnSpc>
                <a:spcPct val="122000"/>
              </a:lnSpc>
              <a:spcBef>
                <a:spcPts val="0"/>
              </a:spcBef>
              <a:spcAft>
                <a:spcPts val="0"/>
              </a:spcAft>
              <a:defRPr sz="1800" b="0">
                <a:solidFill>
                  <a:srgbClr val="203946"/>
                </a:solidFill>
                <a:latin typeface="Microsoft YaHei"/>
              </a:defRPr>
            </a:pPr>
            <a:r>
              <a:rPr>
                <a:ea typeface="Microsoft YaHei"/>
              </a:rPr>
              <a:t>Huo等原始实验与完整题录</a:t>
            </a:r>
          </a:p>
          <a:p>
            <a:pPr>
              <a:lnSpc>
                <a:spcPct val="122000"/>
              </a:lnSpc>
              <a:spcBef>
                <a:spcPts val="0"/>
              </a:spcBef>
              <a:spcAft>
                <a:spcPts val="0"/>
              </a:spcAft>
              <a:defRPr sz="1800" b="0">
                <a:solidFill>
                  <a:srgbClr val="203946"/>
                </a:solidFill>
                <a:latin typeface="Microsoft YaHei"/>
              </a:defRPr>
            </a:pPr>
            <a:r>
              <a:rPr>
                <a:ea typeface="Microsoft YaHei"/>
              </a:rPr>
              <a:t>母相4f / SOC / 收敛数据</a:t>
            </a:r>
          </a:p>
          <a:p>
            <a:pPr>
              <a:lnSpc>
                <a:spcPct val="122000"/>
              </a:lnSpc>
              <a:spcBef>
                <a:spcPts val="0"/>
              </a:spcBef>
              <a:spcAft>
                <a:spcPts val="0"/>
              </a:spcAft>
              <a:defRPr sz="1800" b="0">
                <a:solidFill>
                  <a:srgbClr val="203946"/>
                </a:solidFill>
                <a:latin typeface="Microsoft YaHei"/>
              </a:defRPr>
            </a:pPr>
            <a:r>
              <a:rPr>
                <a:ea typeface="Microsoft YaHei"/>
              </a:rPr>
              <a:t>散射样例、机时与软件授权</a:t>
            </a:r>
          </a:p>
          <a:p>
            <a:pPr>
              <a:lnSpc>
                <a:spcPct val="122000"/>
              </a:lnSpc>
              <a:spcBef>
                <a:spcPts val="0"/>
              </a:spcBef>
              <a:spcAft>
                <a:spcPts val="0"/>
              </a:spcAft>
              <a:defRPr sz="1800" b="0">
                <a:solidFill>
                  <a:srgbClr val="203946"/>
                </a:solidFill>
                <a:latin typeface="Microsoft YaHei"/>
              </a:defRPr>
            </a:pPr>
            <a:r>
              <a:rPr>
                <a:ea typeface="Microsoft YaHei"/>
              </a:rPr>
              <a:t>省基金任务边界</a:t>
            </a:r>
          </a:p>
          <a:p>
            <a:pPr>
              <a:lnSpc>
                <a:spcPct val="122000"/>
              </a:lnSpc>
              <a:spcBef>
                <a:spcPts val="0"/>
              </a:spcBef>
              <a:spcAft>
                <a:spcPts val="0"/>
              </a:spcAft>
              <a:defRPr sz="1800" b="0">
                <a:solidFill>
                  <a:srgbClr val="203946"/>
                </a:solidFill>
                <a:latin typeface="Microsoft YaHei"/>
              </a:defRPr>
            </a:pPr>
            <a:r>
              <a:rPr>
                <a:ea typeface="Microsoft YaHei"/>
              </a:rPr>
              <a:t>2027正式指南与栏目要求</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4EF"/>
        </a:solidFill>
        <a:effectLst/>
      </p:bgPr>
    </p:bg>
    <p:spTree>
      <p:nvGrpSpPr>
        <p:cNvPr id="1" name=""/>
        <p:cNvGrpSpPr/>
        <p:nvPr/>
      </p:nvGrpSpPr>
      <p:grpSpPr/>
      <p:sp>
        <p:nvSpPr>
          <p:cNvPr id="2" name="Rectangle 1"/>
          <p:cNvSpPr/>
          <p:nvPr/>
        </p:nvSpPr>
        <p:spPr>
          <a:xfrm>
            <a:off x="438912" y="384048"/>
            <a:ext cx="73152" cy="548640"/>
          </a:xfrm>
          <a:prstGeom prst="rect">
            <a:avLst/>
          </a:prstGeom>
          <a:solidFill>
            <a:srgbClr val="11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46888"/>
            <a:ext cx="10058400" cy="256032"/>
          </a:xfrm>
          <a:prstGeom prst="rect">
            <a:avLst/>
          </a:prstGeom>
          <a:noFill/>
        </p:spPr>
        <p:txBody>
          <a:bodyPr wrap="none" lIns="0" rIns="0" tIns="0" bIns="0" anchor="t">
            <a:spAutoFit/>
          </a:bodyPr>
          <a:lstStyle/>
          <a:p>
            <a:pPr>
              <a:lnSpc>
                <a:spcPct val="122000"/>
              </a:lnSpc>
              <a:spcBef>
                <a:spcPts val="0"/>
              </a:spcBef>
              <a:spcAft>
                <a:spcPts val="0"/>
              </a:spcAft>
              <a:defRPr sz="1100" b="1">
                <a:solidFill>
                  <a:srgbClr val="117F80"/>
                </a:solidFill>
                <a:latin typeface="Microsoft YaHei"/>
              </a:defRPr>
            </a:pPr>
            <a:r>
              <a:rPr>
                <a:ea typeface="Microsoft YaHei"/>
              </a:rPr>
              <a:t>附录 C｜参考依据</a:t>
            </a:r>
          </a:p>
        </p:txBody>
      </p:sp>
      <p:sp>
        <p:nvSpPr>
          <p:cNvPr id="4" name="TextBox 3"/>
          <p:cNvSpPr txBox="1"/>
          <p:nvPr/>
        </p:nvSpPr>
        <p:spPr>
          <a:xfrm>
            <a:off x="658368" y="640080"/>
            <a:ext cx="10927080" cy="566928"/>
          </a:xfrm>
          <a:prstGeom prst="rect">
            <a:avLst/>
          </a:prstGeom>
          <a:noFill/>
        </p:spPr>
        <p:txBody>
          <a:bodyPr wrap="none" lIns="0" rIns="0" tIns="0" bIns="0" anchor="t">
            <a:spAutoFit/>
          </a:bodyPr>
          <a:lstStyle/>
          <a:p>
            <a:pPr>
              <a:lnSpc>
                <a:spcPct val="122000"/>
              </a:lnSpc>
              <a:spcBef>
                <a:spcPts val="0"/>
              </a:spcBef>
              <a:spcAft>
                <a:spcPts val="0"/>
              </a:spcAft>
              <a:defRPr sz="2800" b="1">
                <a:solidFill>
                  <a:srgbClr val="122B3A"/>
                </a:solidFill>
                <a:latin typeface="Microsoft YaHei"/>
              </a:defRPr>
            </a:pPr>
            <a:r>
              <a:rPr>
                <a:ea typeface="Microsoft YaHei"/>
              </a:rPr>
              <a:t>备查｜材料与方法文献</a:t>
            </a:r>
          </a:p>
        </p:txBody>
      </p:sp>
      <p:sp>
        <p:nvSpPr>
          <p:cNvPr id="5" name="TextBox 4"/>
          <p:cNvSpPr txBox="1"/>
          <p:nvPr/>
        </p:nvSpPr>
        <p:spPr>
          <a:xfrm>
            <a:off x="676656" y="1271016"/>
            <a:ext cx="10881360" cy="484632"/>
          </a:xfrm>
          <a:prstGeom prst="rect">
            <a:avLst/>
          </a:prstGeom>
          <a:noFill/>
        </p:spPr>
        <p:txBody>
          <a:bodyPr wrap="none" lIns="0" rIns="0" tIns="0" bIns="0" anchor="t">
            <a:spAutoFit/>
          </a:bodyPr>
          <a:lstStyle/>
          <a:p>
            <a:pPr>
              <a:lnSpc>
                <a:spcPct val="122000"/>
              </a:lnSpc>
              <a:spcBef>
                <a:spcPts val="0"/>
              </a:spcBef>
              <a:spcAft>
                <a:spcPts val="0"/>
              </a:spcAft>
              <a:defRPr sz="1500" b="0">
                <a:solidFill>
                  <a:srgbClr val="647783"/>
                </a:solidFill>
                <a:latin typeface="Microsoft YaHei"/>
              </a:defRPr>
            </a:pPr>
            <a:r>
              <a:rPr>
                <a:ea typeface="Microsoft YaHei"/>
              </a:rPr>
              <a:t>全文已读：康鹏等综述、评审反馈与原申请书；其余原始论文需回查。</a:t>
            </a:r>
          </a:p>
        </p:txBody>
      </p:sp>
      <p:cxnSp>
        <p:nvCxnSpPr>
          <p:cNvPr id="6" name="Connector 5"/>
          <p:cNvCxnSpPr/>
          <p:nvPr/>
        </p:nvCxnSpPr>
        <p:spPr>
          <a:xfrm>
            <a:off x="658368" y="6437376"/>
            <a:ext cx="10881360" cy="0"/>
          </a:xfrm>
          <a:prstGeom prst="line">
            <a:avLst/>
          </a:prstGeom>
          <a:ln w="8890">
            <a:solidFill>
              <a:srgbClr val="D9E1D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67512" y="6519672"/>
            <a:ext cx="10149840" cy="201168"/>
          </a:xfrm>
          <a:prstGeom prst="rect">
            <a:avLst/>
          </a:prstGeom>
          <a:noFill/>
        </p:spPr>
        <p:txBody>
          <a:bodyPr wrap="none" lIns="0" rIns="0" tIns="0" bIns="0" anchor="t">
            <a:spAutoFit/>
          </a:bodyPr>
          <a:lstStyle/>
          <a:p>
            <a:pPr>
              <a:lnSpc>
                <a:spcPct val="122000"/>
              </a:lnSpc>
              <a:spcBef>
                <a:spcPts val="0"/>
              </a:spcBef>
              <a:spcAft>
                <a:spcPts val="0"/>
              </a:spcAft>
              <a:defRPr sz="900" b="0">
                <a:solidFill>
                  <a:srgbClr val="647783"/>
                </a:solidFill>
                <a:latin typeface="Microsoft YaHei"/>
              </a:defRPr>
            </a:pPr>
            <a:r>
              <a:rPr>
                <a:ea typeface="Microsoft YaHei"/>
              </a:rPr>
              <a:t>2027青年科学基金（C类）｜申报论证工作稿</a:t>
            </a:r>
          </a:p>
        </p:txBody>
      </p:sp>
      <p:sp>
        <p:nvSpPr>
          <p:cNvPr id="8" name="TextBox 7"/>
          <p:cNvSpPr txBox="1"/>
          <p:nvPr/>
        </p:nvSpPr>
        <p:spPr>
          <a:xfrm>
            <a:off x="11009376" y="6473952"/>
            <a:ext cx="502920" cy="274320"/>
          </a:xfrm>
          <a:prstGeom prst="rect">
            <a:avLst/>
          </a:prstGeom>
          <a:noFill/>
        </p:spPr>
        <p:txBody>
          <a:bodyPr wrap="none" lIns="0" rIns="0" tIns="0" bIns="0" anchor="t">
            <a:spAutoFit/>
          </a:bodyPr>
          <a:lstStyle/>
          <a:p>
            <a:pPr>
              <a:lnSpc>
                <a:spcPct val="122000"/>
              </a:lnSpc>
              <a:spcBef>
                <a:spcPts val="0"/>
              </a:spcBef>
              <a:spcAft>
                <a:spcPts val="0"/>
              </a:spcAft>
              <a:defRPr sz="1200" b="1">
                <a:solidFill>
                  <a:srgbClr val="117F80"/>
                </a:solidFill>
                <a:latin typeface="Microsoft YaHei"/>
              </a:defRPr>
            </a:pPr>
            <a:r>
              <a:rPr>
                <a:ea typeface="Microsoft YaHei"/>
              </a:rPr>
              <a:t>23</a:t>
            </a:r>
          </a:p>
        </p:txBody>
      </p:sp>
      <p:sp>
        <p:nvSpPr>
          <p:cNvPr id="9" name="Rounded Rectangle 8"/>
          <p:cNvSpPr/>
          <p:nvPr/>
        </p:nvSpPr>
        <p:spPr>
          <a:xfrm>
            <a:off x="694944" y="1938528"/>
            <a:ext cx="5321808" cy="40233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21408"/>
            <a:ext cx="4901184" cy="475488"/>
          </a:xfrm>
          <a:prstGeom prst="rect">
            <a:avLst/>
          </a:prstGeom>
          <a:noFill/>
        </p:spPr>
        <p:txBody>
          <a:bodyPr wrap="none" lIns="0" rIns="0" tIns="0" bIns="0" anchor="t">
            <a:spAutoFit/>
          </a:bodyPr>
          <a:lstStyle/>
          <a:p>
            <a:pPr>
              <a:lnSpc>
                <a:spcPct val="122000"/>
              </a:lnSpc>
              <a:spcBef>
                <a:spcPts val="0"/>
              </a:spcBef>
              <a:spcAft>
                <a:spcPts val="0"/>
              </a:spcAft>
              <a:defRPr sz="2200" b="1">
                <a:solidFill>
                  <a:srgbClr val="117F80"/>
                </a:solidFill>
                <a:latin typeface="Microsoft YaHei"/>
              </a:defRPr>
            </a:pPr>
            <a:r>
              <a:rPr>
                <a:ea typeface="Microsoft YaHei"/>
              </a:rPr>
              <a:t>材料依据</a:t>
            </a:r>
          </a:p>
        </p:txBody>
      </p:sp>
      <p:sp>
        <p:nvSpPr>
          <p:cNvPr id="11" name="TextBox 10"/>
          <p:cNvSpPr txBox="1"/>
          <p:nvPr/>
        </p:nvSpPr>
        <p:spPr>
          <a:xfrm>
            <a:off x="896112" y="2798064"/>
            <a:ext cx="4901184" cy="393192"/>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203946"/>
                </a:solidFill>
                <a:latin typeface="Microsoft YaHei"/>
              </a:defRPr>
            </a:pPr>
            <a:r>
              <a:rPr>
                <a:ea typeface="Microsoft YaHei"/>
              </a:rPr>
              <a:t>Sun等，J. Materiomics 2019, 5:567–573</a:t>
            </a:r>
          </a:p>
        </p:txBody>
      </p:sp>
      <p:sp>
        <p:nvSpPr>
          <p:cNvPr id="12" name="TextBox 11"/>
          <p:cNvSpPr txBox="1"/>
          <p:nvPr/>
        </p:nvSpPr>
        <p:spPr>
          <a:xfrm>
            <a:off x="896112" y="3255264"/>
            <a:ext cx="4901184" cy="393192"/>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203946"/>
                </a:solidFill>
                <a:latin typeface="Microsoft YaHei"/>
              </a:defRPr>
            </a:pPr>
            <a:r>
              <a:rPr>
                <a:ea typeface="Microsoft YaHei"/>
              </a:rPr>
              <a:t>May等，Phys. Rev. B 2012, 85</a:t>
            </a:r>
          </a:p>
        </p:txBody>
      </p:sp>
      <p:sp>
        <p:nvSpPr>
          <p:cNvPr id="13" name="TextBox 12"/>
          <p:cNvSpPr txBox="1"/>
          <p:nvPr/>
        </p:nvSpPr>
        <p:spPr>
          <a:xfrm>
            <a:off x="896112" y="3712464"/>
            <a:ext cx="4901184" cy="393192"/>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203946"/>
                </a:solidFill>
                <a:latin typeface="Microsoft YaHei"/>
              </a:defRPr>
            </a:pPr>
            <a:r>
              <a:rPr>
                <a:ea typeface="Microsoft YaHei"/>
              </a:rPr>
              <a:t>Ramirez等，JSSC 2015, 231:217–222</a:t>
            </a:r>
          </a:p>
        </p:txBody>
      </p:sp>
      <p:sp>
        <p:nvSpPr>
          <p:cNvPr id="14" name="TextBox 13"/>
          <p:cNvSpPr txBox="1"/>
          <p:nvPr/>
        </p:nvSpPr>
        <p:spPr>
          <a:xfrm>
            <a:off x="896112" y="4169664"/>
            <a:ext cx="4901184" cy="393192"/>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203946"/>
                </a:solidFill>
                <a:latin typeface="Microsoft YaHei"/>
              </a:defRPr>
            </a:pPr>
            <a:r>
              <a:rPr>
                <a:ea typeface="Microsoft YaHei"/>
              </a:rPr>
              <a:t>Saparamadu等，JMCA 2020, 8:15760–15766</a:t>
            </a:r>
          </a:p>
        </p:txBody>
      </p:sp>
      <p:sp>
        <p:nvSpPr>
          <p:cNvPr id="15" name="TextBox 14"/>
          <p:cNvSpPr txBox="1"/>
          <p:nvPr/>
        </p:nvSpPr>
        <p:spPr>
          <a:xfrm>
            <a:off x="896112" y="4626864"/>
            <a:ext cx="4901184" cy="393192"/>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203946"/>
                </a:solidFill>
                <a:latin typeface="Microsoft YaHei"/>
              </a:defRPr>
            </a:pPr>
            <a:r>
              <a:rPr>
                <a:ea typeface="Microsoft YaHei"/>
              </a:rPr>
              <a:t>Huo等，ACS Appl. Energy Mater. 2022</a:t>
            </a:r>
          </a:p>
        </p:txBody>
      </p:sp>
      <p:sp>
        <p:nvSpPr>
          <p:cNvPr id="16" name="TextBox 15"/>
          <p:cNvSpPr txBox="1"/>
          <p:nvPr/>
        </p:nvSpPr>
        <p:spPr>
          <a:xfrm>
            <a:off x="896112" y="5084064"/>
            <a:ext cx="4901184" cy="393192"/>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203946"/>
                </a:solidFill>
                <a:latin typeface="Microsoft YaHei"/>
              </a:defRPr>
            </a:pPr>
            <a:r>
              <a:rPr>
                <a:ea typeface="Microsoft YaHei"/>
              </a:rPr>
              <a:t>Huo论文卷页、DOI与实验条件待补齐</a:t>
            </a:r>
          </a:p>
        </p:txBody>
      </p:sp>
      <p:sp>
        <p:nvSpPr>
          <p:cNvPr id="17" name="Rounded Rectangle 16"/>
          <p:cNvSpPr/>
          <p:nvPr/>
        </p:nvSpPr>
        <p:spPr>
          <a:xfrm>
            <a:off x="6181344" y="1938528"/>
            <a:ext cx="5321808" cy="40233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2121408"/>
            <a:ext cx="4901184" cy="475488"/>
          </a:xfrm>
          <a:prstGeom prst="rect">
            <a:avLst/>
          </a:prstGeom>
          <a:noFill/>
        </p:spPr>
        <p:txBody>
          <a:bodyPr wrap="none" lIns="0" rIns="0" tIns="0" bIns="0" anchor="t">
            <a:spAutoFit/>
          </a:bodyPr>
          <a:lstStyle/>
          <a:p>
            <a:pPr>
              <a:lnSpc>
                <a:spcPct val="122000"/>
              </a:lnSpc>
              <a:spcBef>
                <a:spcPts val="0"/>
              </a:spcBef>
              <a:spcAft>
                <a:spcPts val="0"/>
              </a:spcAft>
              <a:defRPr sz="2200" b="1">
                <a:solidFill>
                  <a:srgbClr val="117F80"/>
                </a:solidFill>
                <a:latin typeface="Microsoft YaHei"/>
              </a:defRPr>
            </a:pPr>
            <a:r>
              <a:rPr>
                <a:ea typeface="Microsoft YaHei"/>
              </a:rPr>
              <a:t>学习与输运方法</a:t>
            </a:r>
          </a:p>
        </p:txBody>
      </p:sp>
      <p:sp>
        <p:nvSpPr>
          <p:cNvPr id="19" name="TextBox 18"/>
          <p:cNvSpPr txBox="1"/>
          <p:nvPr/>
        </p:nvSpPr>
        <p:spPr>
          <a:xfrm>
            <a:off x="6382512" y="2798064"/>
            <a:ext cx="4901184" cy="393192"/>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203946"/>
                </a:solidFill>
                <a:latin typeface="Microsoft YaHei"/>
              </a:defRPr>
            </a:pPr>
            <a:r>
              <a:rPr>
                <a:ea typeface="Microsoft YaHei"/>
              </a:rPr>
              <a:t>康鹏等，北京航空航天大学学报，2026</a:t>
            </a:r>
          </a:p>
        </p:txBody>
      </p:sp>
      <p:sp>
        <p:nvSpPr>
          <p:cNvPr id="20" name="TextBox 19"/>
          <p:cNvSpPr txBox="1"/>
          <p:nvPr/>
        </p:nvSpPr>
        <p:spPr>
          <a:xfrm>
            <a:off x="6382512" y="3255264"/>
            <a:ext cx="4901184" cy="393192"/>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203946"/>
                </a:solidFill>
                <a:latin typeface="Microsoft YaHei"/>
              </a:defRPr>
            </a:pPr>
            <a:r>
              <a:rPr>
                <a:ea typeface="Microsoft YaHei"/>
              </a:rPr>
              <a:t>Sheng等，npj Comput. Mater. 2020, 6:171</a:t>
            </a:r>
          </a:p>
        </p:txBody>
      </p:sp>
      <p:sp>
        <p:nvSpPr>
          <p:cNvPr id="21" name="TextBox 20"/>
          <p:cNvSpPr txBox="1"/>
          <p:nvPr/>
        </p:nvSpPr>
        <p:spPr>
          <a:xfrm>
            <a:off x="6382512" y="3712464"/>
            <a:ext cx="4901184" cy="393192"/>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203946"/>
                </a:solidFill>
                <a:latin typeface="Microsoft YaHei"/>
              </a:defRPr>
            </a:pPr>
            <a:r>
              <a:rPr>
                <a:ea typeface="Microsoft YaHei"/>
              </a:rPr>
              <a:t>Li等，Adv. Energy Mater. 2023, 13:2300049</a:t>
            </a:r>
          </a:p>
        </p:txBody>
      </p:sp>
      <p:sp>
        <p:nvSpPr>
          <p:cNvPr id="22" name="TextBox 21"/>
          <p:cNvSpPr txBox="1"/>
          <p:nvPr/>
        </p:nvSpPr>
        <p:spPr>
          <a:xfrm>
            <a:off x="6382512" y="4169664"/>
            <a:ext cx="4901184" cy="393192"/>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203946"/>
                </a:solidFill>
                <a:latin typeface="Microsoft YaHei"/>
              </a:defRPr>
            </a:pPr>
            <a:r>
              <a:rPr>
                <a:ea typeface="Microsoft YaHei"/>
              </a:rPr>
              <a:t>Madsen等，CPC 2018, 231:140–145</a:t>
            </a:r>
          </a:p>
        </p:txBody>
      </p:sp>
      <p:sp>
        <p:nvSpPr>
          <p:cNvPr id="23" name="TextBox 22"/>
          <p:cNvSpPr txBox="1"/>
          <p:nvPr/>
        </p:nvSpPr>
        <p:spPr>
          <a:xfrm>
            <a:off x="6382512" y="4626864"/>
            <a:ext cx="4901184" cy="393192"/>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203946"/>
                </a:solidFill>
                <a:latin typeface="Microsoft YaHei"/>
              </a:defRPr>
            </a:pPr>
            <a:r>
              <a:rPr>
                <a:ea typeface="Microsoft YaHei"/>
              </a:rPr>
              <a:t>Ganose等，Nat. Commun. 2021, 12:2222</a:t>
            </a:r>
          </a:p>
        </p:txBody>
      </p:sp>
      <p:sp>
        <p:nvSpPr>
          <p:cNvPr id="24" name="TextBox 23"/>
          <p:cNvSpPr txBox="1"/>
          <p:nvPr/>
        </p:nvSpPr>
        <p:spPr>
          <a:xfrm>
            <a:off x="6382512" y="5084064"/>
            <a:ext cx="4901184" cy="393192"/>
          </a:xfrm>
          <a:prstGeom prst="rect">
            <a:avLst/>
          </a:prstGeom>
          <a:noFill/>
        </p:spPr>
        <p:txBody>
          <a:bodyPr wrap="none" lIns="0" rIns="0" tIns="0" bIns="0" anchor="t">
            <a:spAutoFit/>
          </a:bodyPr>
          <a:lstStyle/>
          <a:p>
            <a:pPr>
              <a:lnSpc>
                <a:spcPct val="122000"/>
              </a:lnSpc>
              <a:spcBef>
                <a:spcPts val="0"/>
              </a:spcBef>
              <a:spcAft>
                <a:spcPts val="0"/>
              </a:spcAft>
              <a:defRPr sz="1400" b="0">
                <a:solidFill>
                  <a:srgbClr val="203946"/>
                </a:solidFill>
                <a:latin typeface="Microsoft YaHei"/>
              </a:defRPr>
            </a:pPr>
            <a:r>
              <a:rPr>
                <a:ea typeface="Microsoft YaHei"/>
              </a:rPr>
              <a:t>Li等，CPC 2014, 185:1747–1758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Ca/Ge双位点取代SmMg₂Bi₂的局域畸变与载流子散射机制</dc:title>
  <dc:subject>2027年度青年科学基金项目（C类）申报论证汇报｜修订工作稿</dc:subject>
  <dc:creator>张菊</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